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Relationship Id="rId15" Type="http://schemas.openxmlformats.org/officeDocument/2006/relationships/slide" Target="slides/slide13.xml"/>
<Relationship Id="rId16" Type="http://schemas.openxmlformats.org/officeDocument/2006/relationships/slide" Target="slides/slide14.xml"/>
<Relationship Id="rId17" Type="http://schemas.openxmlformats.org/officeDocument/2006/relationships/slide" Target="slides/slide15.xml"/>
<Relationship Id="rId18" Type="http://schemas.openxmlformats.org/officeDocument/2006/relationships/slide" Target="slides/slide16.xml"/>
<Relationship Id="rId19" Type="http://schemas.openxmlformats.org/officeDocument/2006/relationships/slide" Target="slides/slide17.xml"/>
<Relationship Id="rId20" Type="http://schemas.openxmlformats.org/officeDocument/2006/relationships/slide" Target="slides/slide18.xml"/>
<Relationship Id="rId21" Type="http://schemas.openxmlformats.org/officeDocument/2006/relationships/slide" Target="slides/slide19.xml"/>
<Relationship Id="rId22" Type="http://schemas.openxmlformats.org/officeDocument/2006/relationships/slide" Target="slides/slide20.xml"/>
<Relationship Id="rId23" Type="http://schemas.openxmlformats.org/officeDocument/2006/relationships/slide" Target="slides/slide21.xml"/>
<Relationship Id="rId24" Type="http://schemas.openxmlformats.org/officeDocument/2006/relationships/slide" Target="slides/slide2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ATENCION Y MANEJO DE EMERGENCIAS
EN EL SECTOR FERROVIARIO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Enfocado al contexto colombiano | 40 horas | Colombia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CONTENIDO DEL CURSO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1: El Sistema Ferroviario Colombiano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2: Clasificacion de Emergencias Ferroviarias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3: Sistema de Comando de Incidentes (SCI)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4: Protocolos de Respuesta a Emergencias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5: Evacuacion de Pasajeros y Primeros Auxilios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6: Materiales Peligrosos (MATPEL)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7: Comunicacion en Crisis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8: Casos Reales de Estudio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9: Simulacros y Ejercicios Practicos</a:t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Modulo 10: Evaluacion y Certificacion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75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MODULO 1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El Sistema Ferroviario Colombiano y Marco Normativo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SISTEMA FERROVIARIO COLOMBIANO - ACTUAL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Metro de Medellin - En operacion desde 1995 (Lineas A, B, Metrocable, Tranvia)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Metro de Bogota Linea 1 - En construccion, primer tren llego 2025, pruebas 2026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RegioTram de Occidente - 39.6 km Bogota-Facatativa, en construccion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Corredor La Dorada - Chiriguana - Santa Marta (Carga: Carbon)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Corredor del Pacifico - Buenaventura - Cali (En rehabilitacion)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Metro de la 80 (Linea E) - Medellin, en proyecto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C00000"/>
                </a:solidFill>
              </a:rPr>
              <a:t>RIESGOS DEL TERRENO COLOMBIANO: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C00000"/>
                </a:solidFill>
              </a:rPr>
              <a:t>Topografia montanosa, lluvias intensas, deslizamientos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C00000"/>
                </a:solidFill>
              </a:rPr>
              <a:t>Zonas sismicas, pasos a nivel informales, invasion del corredor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MARCO NORMATIVO COLOMBIANO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>Ley 1523 de 2012 - Politica Nacional de Gestion del Riesgo (SNGRD)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>Ley 1682 de 2013 - Ley de Infraestructura de Transporte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>Decreto 1609 de 2002 - Transporte de Mercancias Peligrosas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>Decreto 1072 de 2015 - Sistema de Gestion de SST (SG-SST)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>Ley 769 de 2002 - Codigo Nacional de Transito (pasos a nivel)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>Plan Maestro Ferroviario 2020 - Reactivacion del modo ferreo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2E75B6"/>
                </a:solidFill>
              </a:rPr>
              <a:t>ENTIDADES: ANI, Supertransporte, UNGRD, Mintransporte, Bomberos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2E75B6"/>
                </a:solidFill>
              </a:rPr>
              <a:t>Cruz Roja, Defensa Civil, INVIAS, CRUE departamentales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7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MODULO 2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Clasificacion de Emergencias Ferroviarias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TIPOS DE EMERGENCIAS EN COLOMBIA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700" b="1" dirty="0">
                <a:solidFill>
                  <a:srgbClr val="C00000"/>
                </a:solidFill>
              </a:rPr>
              <a:t>OPERACIONALES: Descarrilamiento, colision, arrollamiento, atrapamiento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ED7D31"/>
                </a:solidFill>
              </a:rPr>
              <a:t>NATURALES: Deslizamientos, inundaciones, sismos, avenidas torrenciales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FFC000"/>
                </a:solidFill>
              </a:rPr>
              <a:t>MATPEL: Derrames de carbon, hidrocarburos, quimicos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1B3A5C"/>
                </a:solidFill>
              </a:rPr>
              <a:t>SEGURIDAD: Amenaza bomba, sabotaje, hurto de rieles, bloqueos sociales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70AD47"/>
                </a:solidFill>
              </a:rPr>
              <a:t>MEDICAS: Crisis de pasajeros, panico colectivo, agresiones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1B3A5C"/>
                </a:solidFill>
              </a:rPr>
              <a:t>NIVELES DE EMERGENCIA (alineados con SNGRD):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70AD47"/>
                </a:solidFill>
              </a:rPr>
              <a:t>Nivel 1 (Verde): Recursos propios del operador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ED7D31"/>
                </a:solidFill>
              </a:rPr>
              <a:t>Nivel 2 (Amarillo): Apoyo organismos de socorro - Linea 123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C00000"/>
                </a:solidFill>
              </a:rPr>
              <a:t>Nivel 3 (Rojo): Activacion CMGRD / CDGRD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000000"/>
                </a:solidFill>
              </a:rPr>
              <a:t>Nivel 4 (Negro): Activacion Nacional UNGRD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75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MODULO 3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Sistema de Comando de Incidentes (SCI)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SCI Y NUMEROS DE EMERGENCIA COLOMBIA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800" b="1" dirty="0">
                <a:solidFill>
                  <a:srgbClr val="1B3A5C"/>
                </a:solidFill>
              </a:rPr>
              <a:t>SISTEMA DE COMANDO DE INCIDENTES: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Comandante del Incidente &gt; Operaciones &gt; Planificacion &gt; Logistica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Coordinacion: CCO &gt; Linea 123 &gt; CMGRD &gt; CDGRD &gt; UNGRD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C00000"/>
                </a:solidFill>
              </a:rPr>
              <a:t>NUMEROS DE EMERGENCIA EN COLOMBIA: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C00000"/>
                </a:solidFill>
              </a:rPr>
              <a:t>123 - Numero Unico de Seguridad y Emergencias (NUSE)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C00000"/>
                </a:solidFill>
              </a:rPr>
              <a:t>119 - Bomberos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1B3A5C"/>
                </a:solidFill>
              </a:rPr>
              <a:t>112 - Policia Nacional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C00000"/>
                </a:solidFill>
              </a:rPr>
              <a:t>132 - Cruz Roja Colombiana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ED7D31"/>
                </a:solidFill>
              </a:rPr>
              <a:t>144 - Defensa Civil</a:t>
            </a:r>
          </a:p>
          <a:p>
            <a:pPr marL="457200" indent="-228600">
              <a:buChar char="•"/>
            </a:pPr>
            <a:r>
              <a:rPr lang="es-CO" sz="1700" dirty="0">
                <a:solidFill>
                  <a:srgbClr val="2E75B6"/>
                </a:solidFill>
              </a:rPr>
              <a:t>#767 - Transito y Transporte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7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MODULO 4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Protocolos de Respuesta a Emergencias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PROTOCOLO RAPCE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2000" b="1" dirty="0">
                <a:solidFill>
                  <a:srgbClr val="2E75B6"/>
                </a:solidFill>
              </a:rPr>
              <a:t>R - RECONOCER: Identificar la emergencia y evaluar</a:t>
            </a:r>
          </a:p>
          <a:p>
            <a:pPr marL="457200" indent="-228600">
              <a:buChar char="•"/>
            </a:pPr>
            <a:r>
              <a:rPr lang="es-CO" sz="2000" b="1" dirty="0">
                <a:solidFill>
                  <a:srgbClr val="ED7D31"/>
                </a:solidFill>
              </a:rPr>
              <a:t>A - ALERTAR: Notificar al CCO + Linea 123 si hay victimas</a:t>
            </a:r>
          </a:p>
          <a:p>
            <a:pPr marL="457200" indent="-228600">
              <a:buChar char="•"/>
            </a:pPr>
            <a:r>
              <a:rPr lang="es-CO" sz="2000" b="1" dirty="0">
                <a:solidFill>
                  <a:srgbClr val="70AD47"/>
                </a:solidFill>
              </a:rPr>
              <a:t>P - PROTEGER: Asegurar zona, senalizar, detener trafico</a:t>
            </a:r>
          </a:p>
          <a:p>
            <a:pPr marL="457200" indent="-228600">
              <a:buChar char="•"/>
            </a:pPr>
            <a:r>
              <a:rPr lang="es-CO" sz="2000" b="1" dirty="0">
                <a:solidFill>
                  <a:srgbClr val="FFC000"/>
                </a:solidFill>
              </a:rPr>
              <a:t>C - CONTENER: Controlar sin exponerse a riesgo</a:t>
            </a:r>
          </a:p>
          <a:p>
            <a:pPr marL="457200" indent="-228600">
              <a:buChar char="•"/>
            </a:pPr>
            <a:r>
              <a:rPr lang="es-CO" sz="2000" b="1" dirty="0">
                <a:solidFill>
                  <a:srgbClr val="C00000"/>
                </a:solidFill>
              </a:rPr>
              <a:t>E - ESPERAR/EVACUAR: Aguardar organismos de socorro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1B3A5C"/>
                </a:solidFill>
              </a:rPr>
              <a:t>Aplique SIEMPRE este protocolo ante cualquier emergencia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PROTOCOLOS ESPECIFICOS (COLOMBIA)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DESCARRILAMIENTO: Detener, NO mover, reportar CCO + 123, proteger zona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INCENDIO: Detener en zona abierta (NO tunel), extinguir o evacuar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DESLIZAMIENTO: Detener, NO cruzar, evaluar ladera, retroceder si hay riesgo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PASO A NIVEL: Freno emergencia, bocina, protegerse, auxiliar si es seguro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AMENAZA BOMBA: NO tocar, NO radio cerca, alejar 300m, esperar Policia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MATPEL: Retirarse a favor del viento, NO sellar, reportar, restringir acceso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C00000"/>
                </a:solidFill>
              </a:rPr>
              <a:t>En TODOS los casos: Proteger la escena para investigacion posterior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MODULO 5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Evacuacion de Pasajeros y Primeros Auxilios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EVACUACION Y TRIAGE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700" b="1" dirty="0">
                <a:solidFill>
                  <a:srgbClr val="C00000"/>
                </a:solidFill>
              </a:rPr>
              <a:t>EVACUAR SI: Incendio, explosion, inundacion, ladera inestable, toxico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70AD47"/>
                </a:solidFill>
              </a:rPr>
              <a:t>NO EVACUAR SI: Tunel sin fuego, catenaria danada, puente, grupos armados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1B3A5C"/>
                </a:solidFill>
              </a:rPr>
              <a:t>TRIAGE START: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000000"/>
                </a:solidFill>
              </a:rPr>
              <a:t>NEGRO: Fallecido (sin respiracion tras abrir via aerea)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C00000"/>
                </a:solidFill>
              </a:rPr>
              <a:t>ROJO: Inmediato (riesgo vital, atencion menor a 60 min)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ED7D31"/>
                </a:solidFill>
              </a:rPr>
              <a:t>AMARILLO: Urgente (serio pero estable)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70AD47"/>
                </a:solidFill>
              </a:rPr>
              <a:t>VERDE: Menor (camina por si mismo)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600" b="1" dirty="0">
                <a:solidFill>
                  <a:srgbClr val="2E75B6"/>
                </a:solidFill>
              </a:rPr>
              <a:t>Coordinar con CRUE departamental para distribucion a hospitales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MODULO 6: MATERIALES PELIGROSOS (MATPEL)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2000" b="1" dirty="0">
                <a:solidFill>
                  <a:srgbClr val="C00000"/>
                </a:solidFill>
              </a:rPr>
              <a:t>EL PERSONAL FERROVIARIO NO ES RESPONDEDOR MATPEL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1B3A5C"/>
                </a:solidFill>
              </a:rPr>
              <a:t>Su funcion: RECONOCER - RETIRARSE - REPORTAR - RESTRINGIR - REFERIR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C00000"/>
                </a:solidFill>
              </a:rPr>
              <a:t>NUNCA: Sellar fugas, caminar sobre derrames, inhalar para identificar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C00000"/>
                </a:solidFill>
              </a:rPr>
              <a:t>NUNCA: Tocar contenedores danados, usar agua sin saber el material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ED7D31"/>
                </a:solidFill>
              </a:rPr>
              <a:t>Distancias: Gases toxicos 800m, Inflamables 300m, Explosivos 1600m</a:t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ED7D31"/>
                </a:solidFill>
              </a:rPr>
              <a:t>Retirarse SIEMPRE a favor del viento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Carbon: principal carga en Colombia - riesgo combustion espontanea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MODULO 7: COMUNICACION EN CRISIS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800" b="1" dirty="0">
                <a:solidFill>
                  <a:srgbClr val="2E75B6"/>
                </a:solidFill>
              </a:rPr>
              <a:t>LAS 5 C: Clara - Concisa - Correcta - Completa - Confirmada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1B3A5C"/>
                </a:solidFill>
              </a:rPr>
              <a:t>FORMATO DE REPORTE: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1. QUE paso  2. DONDE (km, corredor, municipio, depto)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3. CUANDO  4. MAGNITUD  5. VICTIMAS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6. NECESIDADES  7. ACCESO al sitio  8. RIESGOS adicionales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700" b="1" dirty="0">
                <a:solidFill>
                  <a:srgbClr val="ED7D31"/>
                </a:solidFill>
              </a:rPr>
              <a:t>CADENA: CCO &gt; Linea 123 &gt; Bomberos/CRUE/Policia &gt; CMGRD &gt; UNGRD</a:t>
            </a:r>
          </a:p>
          <a:p>
            <a:pPr marL="457200" indent="-228600">
              <a:buChar char="•"/>
            </a:pPr>
            <a:r>
              <a:rPr lang="es-CO" sz="1600" b="1" dirty="0">
                <a:solidFill>
                  <a:srgbClr val="C00000"/>
                </a:solidFill>
              </a:rPr>
              <a:t>No dar declaraciones a medios sin autorizacion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MODULO 8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Casos Reales de Estudio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CASO 1: SANTIAGO DE COMPOSTELA, ESPANA (2013)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700" b="1" dirty="0">
                <a:solidFill>
                  <a:srgbClr val="C00000"/>
                </a:solidFill>
              </a:rPr>
              <a:t>79 fallecidos, 144 heridos - Tren de pasajeros Alvia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Causa: Exceso de velocidad (190 km/h en zona de 80 km/h)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Maquinista distraido hablando por telefono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ED7D31"/>
                </a:solidFill>
              </a:rPr>
              <a:t>LECCIONES PARA COLOMBIA: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Implementar proteccion automatica en puntos criticos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Prohibir comunicaciones no esenciales en zonas de riesgo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No depender SOLO del factor humano como barrera de seguridad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Aplicable a Metro Bogota, RegioTram, Metro Medellin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CASO 2: LAC-MEGANTIC, CANADA (2013)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700" b="1" dirty="0">
                <a:solidFill>
                  <a:srgbClr val="C00000"/>
                </a:solidFill>
              </a:rPr>
              <a:t>47 fallecidos - Tren de petroleo crudo exploto en pueblo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Causa: Tren fugado (frenos insuficientes en pendiente)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72 vagones cisterna, un solo operador, sin vigilancia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ED7D31"/>
                </a:solidFill>
              </a:rPr>
              <a:t>LECCIONES PARA COLOMBIA: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Topografia montanosa colombiana = alto riesgo de trenes fugados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Comunidades viven cerca de la via ferrea (asentamientos)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Protocolos de aseguramiento en pendientes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Decreto 1609/2002 debe aplicarse al modo ferreo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CASO 3: BALASORE, INDIA (2023)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700" b="1" dirty="0">
                <a:solidFill>
                  <a:srgbClr val="C00000"/>
                </a:solidFill>
              </a:rPr>
              <a:t>296 fallecidos, 1000+ heridos - Triple colision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Causa: Error en senalizacion dirigio tren a via ocupada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Efecto domino: 3 trenes involucrados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ED7D31"/>
                </a:solidFill>
              </a:rPr>
              <a:t>LECCIONES PARA COLOMBIA: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Verificacion CRITICA despues de mantenimiento de senalizacion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Preparar al SNGRD para eventos con cientos de victimas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Red hospitalaria debe tener planes de multiples victimas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10515600" cy="1143000"/>
          </a:xfrm>
          <a:prstGeom prst="rect">
            <a:avLst/>
          </a:prstGeom>
          <a:noFill/>
        </p:spPr>
        <p:txBody>
          <a:bodyPr anchor="b"/>
          <a:lstStyle/>
          <a:p>
            <a:r>
              <a:rPr lang="es-CO" sz="3200" b="1" dirty="0">
                <a:solidFill>
                  <a:srgbClr val="1B3A5C"/>
                </a:solidFill>
              </a:rPr>
              <a:t>CASO 5: PASOS A NIVEL EN COLOMBIA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10515600" cy="4800600"/>
          </a:xfrm>
          <a:prstGeom prst="rect">
            <a:avLst/>
          </a:prstGeom>
          <a:noFill/>
        </p:spPr>
        <p:txBody>
          <a:bodyPr/>
          <a:lstStyle/>
          <a:p>
            <a:pPr marL="457200" indent="-228600">
              <a:buChar char="•"/>
            </a:pPr>
            <a:r>
              <a:rPr lang="es-CO" sz="1800" b="1" dirty="0">
                <a:solidFill>
                  <a:srgbClr val="C00000"/>
                </a:solidFill>
              </a:rPr>
              <a:t>Problematica RECURRENTE en corredores ferreos colombianos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Pasos a nivel sin barreras ni senalizacion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Motociclistas que intentan "ganarle" al tren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Invasion del corredor ferreo (construcciones informales)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>Animales domesticos en la via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404040"/>
                </a:solidFill>
              </a:rPr>
              <a:t/>
            </a:r>
          </a:p>
          <a:p>
            <a:pPr marL="457200" indent="-228600">
              <a:buChar char="•"/>
            </a:pPr>
            <a:r>
              <a:rPr lang="es-CO" sz="1800" b="1" dirty="0">
                <a:solidFill>
                  <a:srgbClr val="70AD47"/>
                </a:solidFill>
              </a:rPr>
              <a:t>ACCIONES: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70AD47"/>
                </a:solidFill>
              </a:rPr>
              <a:t>Campanas educativas, barreras automaticas, senalizacion</a:t>
            </a:r>
          </a:p>
          <a:p>
            <a:pPr marL="457200" indent="-228600">
              <a:buChar char="•"/>
            </a:pPr>
            <a:r>
              <a:rPr lang="es-CO" sz="1600" dirty="0">
                <a:solidFill>
                  <a:srgbClr val="70AD47"/>
                </a:solidFill>
              </a:rPr>
              <a:t>Atencion psicologica al maquinista despues de un arrollamiento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"/>
          <p:cNvSpPr/>
          <p:nvPr/>
        </p:nvSpPr>
        <p:spPr>
          <a:xfrm>
            <a:off x="457200" y="1500000"/>
            <a:ext cx="10515600" cy="2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s-CO" sz="4000" b="1" dirty="0">
                <a:solidFill>
                  <a:srgbClr val="FFFFFF"/>
                </a:solidFill>
              </a:rPr>
              <a:t>RECUERDE</a:t>
            </a:r>
          </a:p>
        </p:txBody>
      </p:sp>
      <p:sp>
        <p:nvSpPr>
          <p:cNvPr id="3" name="S"/>
          <p:cNvSpPr/>
          <p:nvPr/>
        </p:nvSpPr>
        <p:spPr>
          <a:xfrm>
            <a:off x="457200" y="3800000"/>
            <a:ext cx="10515600" cy="1500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s-CO" sz="2400" dirty="0">
                <a:solidFill>
                  <a:srgbClr val="F2F2F2"/>
                </a:solidFill>
              </a:rPr>
              <a:t>La seguridad es responsabilidad de TODOS
Linea 123 - Emergencias
Protocolo RAPCE
Gracias por su participacion!</a:t>
            </a:r>
          </a:p>
        </p:txBody>
      </p:sp>
    </p:spTree>
  </p:cSld>
</p:sld>
</file>

<file path=ppt/theme/theme1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