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Line3"/>
          <p:cNvSpPr/>
          <p:nvPr/>
        </p:nvSpPr>
        <p:spPr>
          <a:xfrm>
            <a:off x="0" y="6570000"/>
            <a:ext cx="12192000" cy="-628200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360000" y="900000"/>
            <a:ext cx="11520000" cy="9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3200"/>
              </a:rPr>
              <a:t>CURSO DE CAPACITACION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360000" y="1800000"/>
            <a:ext cx="11520000" cy="108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2E75B6"/>
                </a:solidFill>
                <a:sz val="2800"/>
              </a:rPr>
              <a:t>ATENCION Y MANEJO DE EMERGENCIAS</a:t>
            </a:r>
          </a:p>
          <a:p>
            <a:pPr algn="ctr"/>
            <a:r>
              <a:rPr lang="es-CO" b="1" dirty="0">
                <a:solidFill>
                  <a:srgbClr val="2E75B6"/>
                </a:solidFill>
                <a:sz val="2800"/>
              </a:rPr>
              <a:t>EN EL SECTOR FERROVIARIO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360000" y="324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ED7D31"/>
                </a:solidFill>
                <a:sz val="2000"/>
              </a:rPr>
              <a:t>ENFOCADO AL CONTEXTO COLOMBIANO</a:t>
            </a:r>
          </a:p>
        </p:txBody>
      </p:sp>
      <p:sp>
        <p:nvSpPr>
          <p:cNvPr id="7" name="TextBox7"/>
          <p:cNvSpPr txBox="1"/>
          <p:nvPr/>
        </p:nvSpPr>
        <p:spPr>
          <a:xfrm>
            <a:off x="1080000" y="4140000"/>
            <a:ext cx="10080000" cy="14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dirty="0">
                <a:solidFill>
                  <a:srgbClr val="404040"/>
                </a:solidFill>
                <a:sz val="1400"/>
              </a:rPr>
              <a:t>40 horas | Presencial | Personal operativo ferroviario</a:t>
            </a:r>
          </a:p>
          <a:p>
            <a:pPr algn="ctr"/>
            <a:r>
              <a:rPr lang="es-CO" dirty="0">
                <a:solidFill>
                  <a:srgbClr val="404040"/>
                </a:solidFill>
                <a:sz val="1400"/>
              </a:rPr>
              <a:t>Colombia 2026</a:t>
            </a:r>
          </a:p>
        </p:txBody>
      </p:sp>
      <p:sp>
        <p:nvSpPr>
          <p:cNvPr id="8" name="Circle8"/>
          <p:cNvSpPr/>
          <p:nvPr/>
        </p:nvSpPr>
        <p:spPr>
          <a:xfrm>
            <a:off x="5580000" y="5220000"/>
            <a:ext cx="900000" cy="900000"/>
          </a:xfrm>
          <a:prstGeom prst="ellipse">
            <a:avLst/>
          </a:prstGeom>
          <a:solidFill>
            <a:srgbClr val="1B3A5C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COL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1152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FFFFFF"/>
                </a:solidFill>
                <a:sz val="2200"/>
              </a:rPr>
              <a:t>CONTENIDO DEL CURSO</a:t>
            </a:r>
          </a:p>
        </p:txBody>
      </p:sp>
      <p:sp>
        <p:nvSpPr>
          <p:cNvPr id="10" name="Circle10"/>
          <p:cNvSpPr/>
          <p:nvPr/>
        </p:nvSpPr>
        <p:spPr>
          <a:xfrm>
            <a:off x="540000" y="720000"/>
            <a:ext cx="396000" cy="396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1</a:t>
            </a:r>
          </a:p>
        </p:txBody>
      </p:sp>
      <p:sp>
        <p:nvSpPr>
          <p:cNvPr id="30" name="TextBox30"/>
          <p:cNvSpPr txBox="1"/>
          <p:nvPr/>
        </p:nvSpPr>
        <p:spPr>
          <a:xfrm>
            <a:off x="1080000" y="756000"/>
            <a:ext cx="10080000" cy="39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Modulo 1: Sistema Ferroviario Colombiano</a:t>
            </a:r>
          </a:p>
        </p:txBody>
      </p:sp>
      <p:sp>
        <p:nvSpPr>
          <p:cNvPr id="11" name="Circle11"/>
          <p:cNvSpPr/>
          <p:nvPr/>
        </p:nvSpPr>
        <p:spPr>
          <a:xfrm>
            <a:off x="540000" y="1278000"/>
            <a:ext cx="396000" cy="396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2</a:t>
            </a:r>
          </a:p>
        </p:txBody>
      </p:sp>
      <p:sp>
        <p:nvSpPr>
          <p:cNvPr id="31" name="TextBox31"/>
          <p:cNvSpPr txBox="1"/>
          <p:nvPr/>
        </p:nvSpPr>
        <p:spPr>
          <a:xfrm>
            <a:off x="1080000" y="1314000"/>
            <a:ext cx="10080000" cy="39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Modulo 2: Clasificacion de Emergencias</a:t>
            </a:r>
          </a:p>
        </p:txBody>
      </p:sp>
      <p:sp>
        <p:nvSpPr>
          <p:cNvPr id="12" name="Circle12"/>
          <p:cNvSpPr/>
          <p:nvPr/>
        </p:nvSpPr>
        <p:spPr>
          <a:xfrm>
            <a:off x="540000" y="1836000"/>
            <a:ext cx="396000" cy="396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3</a:t>
            </a:r>
          </a:p>
        </p:txBody>
      </p:sp>
      <p:sp>
        <p:nvSpPr>
          <p:cNvPr id="32" name="TextBox32"/>
          <p:cNvSpPr txBox="1"/>
          <p:nvPr/>
        </p:nvSpPr>
        <p:spPr>
          <a:xfrm>
            <a:off x="1080000" y="1872000"/>
            <a:ext cx="10080000" cy="39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Modulo 3: Sistema Comando de Incidentes</a:t>
            </a:r>
          </a:p>
        </p:txBody>
      </p:sp>
      <p:sp>
        <p:nvSpPr>
          <p:cNvPr id="13" name="Circle13"/>
          <p:cNvSpPr/>
          <p:nvPr/>
        </p:nvSpPr>
        <p:spPr>
          <a:xfrm>
            <a:off x="540000" y="2394000"/>
            <a:ext cx="396000" cy="396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4</a:t>
            </a:r>
          </a:p>
        </p:txBody>
      </p:sp>
      <p:sp>
        <p:nvSpPr>
          <p:cNvPr id="33" name="TextBox33"/>
          <p:cNvSpPr txBox="1"/>
          <p:nvPr/>
        </p:nvSpPr>
        <p:spPr>
          <a:xfrm>
            <a:off x="1080000" y="2430000"/>
            <a:ext cx="10080000" cy="39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Modulo 4: Protocolos de Respuesta</a:t>
            </a:r>
          </a:p>
        </p:txBody>
      </p:sp>
      <p:sp>
        <p:nvSpPr>
          <p:cNvPr id="14" name="Circle14"/>
          <p:cNvSpPr/>
          <p:nvPr/>
        </p:nvSpPr>
        <p:spPr>
          <a:xfrm>
            <a:off x="540000" y="2952000"/>
            <a:ext cx="396000" cy="396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5</a:t>
            </a:r>
          </a:p>
        </p:txBody>
      </p:sp>
      <p:sp>
        <p:nvSpPr>
          <p:cNvPr id="34" name="TextBox34"/>
          <p:cNvSpPr txBox="1"/>
          <p:nvPr/>
        </p:nvSpPr>
        <p:spPr>
          <a:xfrm>
            <a:off x="1080000" y="2988000"/>
            <a:ext cx="10080000" cy="39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Modulo 5: Evacuacion y Primeros Auxilios</a:t>
            </a:r>
          </a:p>
        </p:txBody>
      </p:sp>
      <p:sp>
        <p:nvSpPr>
          <p:cNvPr id="15" name="Circle15"/>
          <p:cNvSpPr/>
          <p:nvPr/>
        </p:nvSpPr>
        <p:spPr>
          <a:xfrm>
            <a:off x="540000" y="3510000"/>
            <a:ext cx="396000" cy="396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6</a:t>
            </a:r>
          </a:p>
        </p:txBody>
      </p:sp>
      <p:sp>
        <p:nvSpPr>
          <p:cNvPr id="35" name="TextBox35"/>
          <p:cNvSpPr txBox="1"/>
          <p:nvPr/>
        </p:nvSpPr>
        <p:spPr>
          <a:xfrm>
            <a:off x="1080000" y="3546000"/>
            <a:ext cx="10080000" cy="39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Modulo 6: Materiales Peligrosos (MATPEL)</a:t>
            </a:r>
          </a:p>
        </p:txBody>
      </p:sp>
      <p:sp>
        <p:nvSpPr>
          <p:cNvPr id="16" name="Circle16"/>
          <p:cNvSpPr/>
          <p:nvPr/>
        </p:nvSpPr>
        <p:spPr>
          <a:xfrm>
            <a:off x="540000" y="4068000"/>
            <a:ext cx="396000" cy="396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7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1080000" y="4104000"/>
            <a:ext cx="10080000" cy="39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Modulo 7: Comunicacion en Crisis</a:t>
            </a:r>
          </a:p>
        </p:txBody>
      </p:sp>
      <p:sp>
        <p:nvSpPr>
          <p:cNvPr id="17" name="Circle17"/>
          <p:cNvSpPr/>
          <p:nvPr/>
        </p:nvSpPr>
        <p:spPr>
          <a:xfrm>
            <a:off x="540000" y="4626000"/>
            <a:ext cx="396000" cy="396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8</a:t>
            </a:r>
          </a:p>
        </p:txBody>
      </p:sp>
      <p:sp>
        <p:nvSpPr>
          <p:cNvPr id="37" name="TextBox37"/>
          <p:cNvSpPr txBox="1"/>
          <p:nvPr/>
        </p:nvSpPr>
        <p:spPr>
          <a:xfrm>
            <a:off x="1080000" y="4662000"/>
            <a:ext cx="10080000" cy="39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Modulo 8: Casos Reales</a:t>
            </a:r>
          </a:p>
        </p:txBody>
      </p:sp>
      <p:sp>
        <p:nvSpPr>
          <p:cNvPr id="18" name="Circle18"/>
          <p:cNvSpPr/>
          <p:nvPr/>
        </p:nvSpPr>
        <p:spPr>
          <a:xfrm>
            <a:off x="540000" y="5184000"/>
            <a:ext cx="396000" cy="396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9</a:t>
            </a:r>
          </a:p>
        </p:txBody>
      </p:sp>
      <p:sp>
        <p:nvSpPr>
          <p:cNvPr id="38" name="TextBox38"/>
          <p:cNvSpPr txBox="1"/>
          <p:nvPr/>
        </p:nvSpPr>
        <p:spPr>
          <a:xfrm>
            <a:off x="1080000" y="5220000"/>
            <a:ext cx="10080000" cy="39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Modulo 9: Simulacros</a:t>
            </a:r>
          </a:p>
        </p:txBody>
      </p:sp>
      <p:sp>
        <p:nvSpPr>
          <p:cNvPr id="19" name="Circle19"/>
          <p:cNvSpPr/>
          <p:nvPr/>
        </p:nvSpPr>
        <p:spPr>
          <a:xfrm>
            <a:off x="540000" y="5742000"/>
            <a:ext cx="396000" cy="396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10</a:t>
            </a:r>
          </a:p>
        </p:txBody>
      </p:sp>
      <p:sp>
        <p:nvSpPr>
          <p:cNvPr id="39" name="TextBox39"/>
          <p:cNvSpPr txBox="1"/>
          <p:nvPr/>
        </p:nvSpPr>
        <p:spPr>
          <a:xfrm>
            <a:off x="1080000" y="5778000"/>
            <a:ext cx="10080000" cy="396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Modulo 10: Evaluacion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1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900000"/>
            <a:ext cx="11520000" cy="7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600"/>
              </a:rPr>
              <a:t>EL SISTEMA FERROVIARIO COLOMBIANO</a:t>
            </a:r>
          </a:p>
          <a:p>
            <a:pPr algn="ctr"/>
            <a:r>
              <a:rPr lang="es-CO" b="1" dirty="0">
                <a:solidFill>
                  <a:srgbClr val="1B3A5C"/>
                </a:solidFill>
                <a:sz val="2600"/>
              </a:rPr>
              <a:t>Y MARCO NORMATIVO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720000" y="2160000"/>
            <a:ext cx="10800000" cy="36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2E75B6"/>
                </a:solidFill>
                <a:sz val="1600"/>
              </a:rPr>
              <a:t>Sistema Ferroviario Actual en Colombia: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/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  Metro de Medellin - En operacion desde 1995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  Metro de Bogota (Linea 1) - En construccion, pruebas 2026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  RegioTram de Occidente - 39.6 km Bogota-Facatativa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  Corredor La Dorada - Chiriguana (Carga/Carbon)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  Corredor del Pacifico (Buenaventura - Cali)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/>
            </a:r>
          </a:p>
          <a:p>
            <a:pPr algn="l"/>
            <a:r>
              <a:rPr lang="es-CO" b="1" dirty="0">
                <a:solidFill>
                  <a:srgbClr val="ED7D31"/>
                </a:solidFill>
                <a:sz val="1600"/>
              </a:rPr>
              <a:t>Riesgos del terreno colombiano: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  Topografia montanosa con pendientes pronunciadas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  Lluvias intensas, deslizamientos, inundaciones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  Zonas sismicas activas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  Pasos a nivel informales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1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200"/>
              </a:rPr>
              <a:t>MARCO NORMATIVO COLOMBIANO</a:t>
            </a:r>
          </a:p>
        </p:txBody>
      </p:sp>
      <p:sp>
        <p:nvSpPr>
          <p:cNvPr id="10" name="N0"/>
          <p:cNvSpPr/>
          <p:nvPr/>
        </p:nvSpPr>
        <p:spPr>
          <a:xfrm>
            <a:off x="360000" y="1440000"/>
            <a:ext cx="3240000" cy="54000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Ley 1523/2012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3960000" y="1512000"/>
            <a:ext cx="79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Politica Nacional de Gestion del Riesgo (SNGRD)</a:t>
            </a:r>
          </a:p>
        </p:txBody>
      </p:sp>
      <p:sp>
        <p:nvSpPr>
          <p:cNvPr id="11" name="N1"/>
          <p:cNvSpPr/>
          <p:nvPr/>
        </p:nvSpPr>
        <p:spPr>
          <a:xfrm>
            <a:off x="360000" y="2160000"/>
            <a:ext cx="3240000" cy="54000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Ley 1682/2013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3960000" y="2232000"/>
            <a:ext cx="79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Infraestructura de Transporte</a:t>
            </a:r>
          </a:p>
        </p:txBody>
      </p:sp>
      <p:sp>
        <p:nvSpPr>
          <p:cNvPr id="12" name="N2"/>
          <p:cNvSpPr/>
          <p:nvPr/>
        </p:nvSpPr>
        <p:spPr>
          <a:xfrm>
            <a:off x="360000" y="2880000"/>
            <a:ext cx="3240000" cy="54000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Decreto 1609/2002</a:t>
            </a:r>
          </a:p>
        </p:txBody>
      </p:sp>
      <p:sp>
        <p:nvSpPr>
          <p:cNvPr id="22" name="TextBox22"/>
          <p:cNvSpPr txBox="1"/>
          <p:nvPr/>
        </p:nvSpPr>
        <p:spPr>
          <a:xfrm>
            <a:off x="3960000" y="2952000"/>
            <a:ext cx="79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Transporte de Mercancias Peligrosas</a:t>
            </a:r>
          </a:p>
        </p:txBody>
      </p:sp>
      <p:sp>
        <p:nvSpPr>
          <p:cNvPr id="13" name="N3"/>
          <p:cNvSpPr/>
          <p:nvPr/>
        </p:nvSpPr>
        <p:spPr>
          <a:xfrm>
            <a:off x="360000" y="3600000"/>
            <a:ext cx="3240000" cy="54000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Decreto 1072/2015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3960000" y="3672000"/>
            <a:ext cx="79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Sistema de Gestion SST</a:t>
            </a:r>
          </a:p>
        </p:txBody>
      </p:sp>
      <p:sp>
        <p:nvSpPr>
          <p:cNvPr id="14" name="N4"/>
          <p:cNvSpPr/>
          <p:nvPr/>
        </p:nvSpPr>
        <p:spPr>
          <a:xfrm>
            <a:off x="360000" y="4320000"/>
            <a:ext cx="3240000" cy="54000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Ley 769/2002</a:t>
            </a:r>
          </a:p>
        </p:txBody>
      </p:sp>
      <p:sp>
        <p:nvSpPr>
          <p:cNvPr id="24" name="TextBox24"/>
          <p:cNvSpPr txBox="1"/>
          <p:nvPr/>
        </p:nvSpPr>
        <p:spPr>
          <a:xfrm>
            <a:off x="3960000" y="4392000"/>
            <a:ext cx="79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Codigo Nacional de Transito</a:t>
            </a:r>
          </a:p>
        </p:txBody>
      </p:sp>
      <p:sp>
        <p:nvSpPr>
          <p:cNvPr id="15" name="N5"/>
          <p:cNvSpPr/>
          <p:nvPr/>
        </p:nvSpPr>
        <p:spPr>
          <a:xfrm>
            <a:off x="360000" y="5040000"/>
            <a:ext cx="3240000" cy="54000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Plan Maestro Ferreo</a:t>
            </a:r>
          </a:p>
        </p:txBody>
      </p:sp>
      <p:sp>
        <p:nvSpPr>
          <p:cNvPr id="25" name="TextBox25"/>
          <p:cNvSpPr txBox="1"/>
          <p:nvPr/>
        </p:nvSpPr>
        <p:spPr>
          <a:xfrm>
            <a:off x="3960000" y="5112000"/>
            <a:ext cx="79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Reactivacion del modo ferreo (2020)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1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200"/>
              </a:rPr>
              <a:t>ENTIDADES REGULADORAS DE COLOMBIA</a:t>
            </a:r>
          </a:p>
        </p:txBody>
      </p:sp>
      <p:sp>
        <p:nvSpPr>
          <p:cNvPr id="10" name="Circle10"/>
          <p:cNvSpPr/>
          <p:nvPr/>
        </p:nvSpPr>
        <p:spPr>
          <a:xfrm>
            <a:off x="432000" y="1368000"/>
            <a:ext cx="468000" cy="468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900"/>
              </a:rPr>
              <a:t>AN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1080000" y="1404000"/>
            <a:ext cx="1008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ANI: Gestion infraestructura ferroviaria concesionada</a:t>
            </a:r>
          </a:p>
        </p:txBody>
      </p:sp>
      <p:sp>
        <p:nvSpPr>
          <p:cNvPr id="11" name="Circle11"/>
          <p:cNvSpPr/>
          <p:nvPr/>
        </p:nvSpPr>
        <p:spPr>
          <a:xfrm>
            <a:off x="432000" y="2016000"/>
            <a:ext cx="468000" cy="468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900"/>
              </a:rPr>
              <a:t>Su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1080000" y="2052000"/>
            <a:ext cx="1008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Supertransporte: Inspeccion, vigilancia y control</a:t>
            </a:r>
          </a:p>
        </p:txBody>
      </p:sp>
      <p:sp>
        <p:nvSpPr>
          <p:cNvPr id="12" name="Circle12"/>
          <p:cNvSpPr/>
          <p:nvPr/>
        </p:nvSpPr>
        <p:spPr>
          <a:xfrm>
            <a:off x="432000" y="2664000"/>
            <a:ext cx="468000" cy="46800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900"/>
              </a:rPr>
              <a:t>UN</a:t>
            </a:r>
          </a:p>
        </p:txBody>
      </p:sp>
      <p:sp>
        <p:nvSpPr>
          <p:cNvPr id="22" name="TextBox22"/>
          <p:cNvSpPr txBox="1"/>
          <p:nvPr/>
        </p:nvSpPr>
        <p:spPr>
          <a:xfrm>
            <a:off x="1080000" y="2700000"/>
            <a:ext cx="1008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UNGRD: Coordinacion del SNGRD y emergencias</a:t>
            </a:r>
          </a:p>
        </p:txBody>
      </p:sp>
      <p:sp>
        <p:nvSpPr>
          <p:cNvPr id="13" name="Circle13"/>
          <p:cNvSpPr/>
          <p:nvPr/>
        </p:nvSpPr>
        <p:spPr>
          <a:xfrm>
            <a:off x="432000" y="3312000"/>
            <a:ext cx="468000" cy="468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900"/>
              </a:rPr>
              <a:t>Mi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1080000" y="3348000"/>
            <a:ext cx="1008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Mintransporte: Politica publica sector transporte</a:t>
            </a:r>
          </a:p>
        </p:txBody>
      </p:sp>
      <p:sp>
        <p:nvSpPr>
          <p:cNvPr id="14" name="Circle14"/>
          <p:cNvSpPr/>
          <p:nvPr/>
        </p:nvSpPr>
        <p:spPr>
          <a:xfrm>
            <a:off x="432000" y="3960000"/>
            <a:ext cx="468000" cy="46800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900"/>
              </a:rPr>
              <a:t>Bo</a:t>
            </a:r>
          </a:p>
        </p:txBody>
      </p:sp>
      <p:sp>
        <p:nvSpPr>
          <p:cNvPr id="24" name="TextBox24"/>
          <p:cNvSpPr txBox="1"/>
          <p:nvPr/>
        </p:nvSpPr>
        <p:spPr>
          <a:xfrm>
            <a:off x="1080000" y="3996000"/>
            <a:ext cx="1008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Bomberos: Atencion de incendios y rescate</a:t>
            </a:r>
          </a:p>
        </p:txBody>
      </p:sp>
      <p:sp>
        <p:nvSpPr>
          <p:cNvPr id="15" name="Circle15"/>
          <p:cNvSpPr/>
          <p:nvPr/>
        </p:nvSpPr>
        <p:spPr>
          <a:xfrm>
            <a:off x="432000" y="4608000"/>
            <a:ext cx="468000" cy="46800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900"/>
              </a:rPr>
              <a:t>Cr</a:t>
            </a:r>
          </a:p>
        </p:txBody>
      </p:sp>
      <p:sp>
        <p:nvSpPr>
          <p:cNvPr id="25" name="TextBox25"/>
          <p:cNvSpPr txBox="1"/>
          <p:nvPr/>
        </p:nvSpPr>
        <p:spPr>
          <a:xfrm>
            <a:off x="1080000" y="4644000"/>
            <a:ext cx="1008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Cruz Roja: Atencion prehospitalaria</a:t>
            </a:r>
          </a:p>
        </p:txBody>
      </p:sp>
      <p:sp>
        <p:nvSpPr>
          <p:cNvPr id="16" name="Circle16"/>
          <p:cNvSpPr/>
          <p:nvPr/>
        </p:nvSpPr>
        <p:spPr>
          <a:xfrm>
            <a:off x="432000" y="5256000"/>
            <a:ext cx="468000" cy="468000"/>
          </a:xfrm>
          <a:prstGeom prst="ellipse">
            <a:avLst/>
          </a:prstGeom>
          <a:solidFill>
            <a:srgbClr val="ED7D31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900"/>
              </a:rPr>
              <a:t>De</a:t>
            </a:r>
          </a:p>
        </p:txBody>
      </p:sp>
      <p:sp>
        <p:nvSpPr>
          <p:cNvPr id="26" name="TextBox26"/>
          <p:cNvSpPr txBox="1"/>
          <p:nvPr/>
        </p:nvSpPr>
        <p:spPr>
          <a:xfrm>
            <a:off x="1080000" y="5292000"/>
            <a:ext cx="1008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Defensa Civil: Busqueda y rescate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2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200"/>
              </a:rPr>
              <a:t>CLASIFICACION DE EMERGENCIAS FERROVIARIAS</a:t>
            </a:r>
          </a:p>
        </p:txBody>
      </p:sp>
      <p:sp>
        <p:nvSpPr>
          <p:cNvPr id="10" name="T0"/>
          <p:cNvSpPr/>
          <p:nvPr/>
        </p:nvSpPr>
        <p:spPr>
          <a:xfrm>
            <a:off x="360000" y="1440000"/>
            <a:ext cx="3600000" cy="6120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OPERACIONALES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4320000" y="1512000"/>
            <a:ext cx="7200000" cy="612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Descarrilamiento, colision, arrollamiento</a:t>
            </a:r>
          </a:p>
        </p:txBody>
      </p:sp>
      <p:sp>
        <p:nvSpPr>
          <p:cNvPr id="11" name="T1"/>
          <p:cNvSpPr/>
          <p:nvPr/>
        </p:nvSpPr>
        <p:spPr>
          <a:xfrm>
            <a:off x="360000" y="2232000"/>
            <a:ext cx="3600000" cy="612000"/>
          </a:xfrm>
          <a:prstGeom prst="roundRect">
            <a:avLst>
              <a:gd name="adj" fmla="val 5000"/>
            </a:avLst>
          </a:prstGeom>
          <a:solidFill>
            <a:srgbClr val="ED7D31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NATURALES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4320000" y="2304000"/>
            <a:ext cx="7200000" cy="612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Deslizamientos, inundaciones, sismos</a:t>
            </a:r>
          </a:p>
        </p:txBody>
      </p:sp>
      <p:sp>
        <p:nvSpPr>
          <p:cNvPr id="12" name="T2"/>
          <p:cNvSpPr/>
          <p:nvPr/>
        </p:nvSpPr>
        <p:spPr>
          <a:xfrm>
            <a:off x="360000" y="3024000"/>
            <a:ext cx="3600000" cy="612000"/>
          </a:xfrm>
          <a:prstGeom prst="roundRect">
            <a:avLst>
              <a:gd name="adj" fmla="val 5000"/>
            </a:avLst>
          </a:prstGeom>
          <a:solidFill>
            <a:srgbClr val="FFC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MATPEL</a:t>
            </a:r>
          </a:p>
        </p:txBody>
      </p:sp>
      <p:sp>
        <p:nvSpPr>
          <p:cNvPr id="22" name="TextBox22"/>
          <p:cNvSpPr txBox="1"/>
          <p:nvPr/>
        </p:nvSpPr>
        <p:spPr>
          <a:xfrm>
            <a:off x="4320000" y="3096000"/>
            <a:ext cx="7200000" cy="612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Derrames, fugas, incendios de materiales</a:t>
            </a:r>
          </a:p>
        </p:txBody>
      </p:sp>
      <p:sp>
        <p:nvSpPr>
          <p:cNvPr id="13" name="T3"/>
          <p:cNvSpPr/>
          <p:nvPr/>
        </p:nvSpPr>
        <p:spPr>
          <a:xfrm>
            <a:off x="360000" y="3816000"/>
            <a:ext cx="3600000" cy="61200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SEGURIDAD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4320000" y="3888000"/>
            <a:ext cx="7200000" cy="612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Amenaza bomba, sabotaje, bloqueos</a:t>
            </a:r>
          </a:p>
        </p:txBody>
      </p:sp>
      <p:sp>
        <p:nvSpPr>
          <p:cNvPr id="14" name="T4"/>
          <p:cNvSpPr/>
          <p:nvPr/>
        </p:nvSpPr>
        <p:spPr>
          <a:xfrm>
            <a:off x="360000" y="4608000"/>
            <a:ext cx="3600000" cy="612000"/>
          </a:xfrm>
          <a:prstGeom prst="roundRect">
            <a:avLst>
              <a:gd name="adj" fmla="val 5000"/>
            </a:avLst>
          </a:prstGeom>
          <a:solidFill>
            <a:srgbClr val="70AD47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MEDICAS</a:t>
            </a:r>
          </a:p>
        </p:txBody>
      </p:sp>
      <p:sp>
        <p:nvSpPr>
          <p:cNvPr id="24" name="TextBox24"/>
          <p:cNvSpPr txBox="1"/>
          <p:nvPr/>
        </p:nvSpPr>
        <p:spPr>
          <a:xfrm>
            <a:off x="4320000" y="4680000"/>
            <a:ext cx="7200000" cy="612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Crisis de pasajeros, agresiones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2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000"/>
              </a:rPr>
              <a:t>NIVELES DE EMERGENCIA (Alineados con SNGRD)</a:t>
            </a:r>
          </a:p>
        </p:txBody>
      </p:sp>
      <p:sp>
        <p:nvSpPr>
          <p:cNvPr id="10" name="N0"/>
          <p:cNvSpPr/>
          <p:nvPr/>
        </p:nvSpPr>
        <p:spPr>
          <a:xfrm>
            <a:off x="360000" y="1440000"/>
            <a:ext cx="2520000" cy="792000"/>
          </a:xfrm>
          <a:prstGeom prst="roundRect">
            <a:avLst>
              <a:gd name="adj" fmla="val 5000"/>
            </a:avLst>
          </a:prstGeom>
          <a:solidFill>
            <a:srgbClr val="70AD47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000000"/>
                </a:solidFill>
                <a:sz val="1200"/>
              </a:rPr>
              <a:t>NIVEL 1
(Verde)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3240000" y="1548000"/>
            <a:ext cx="8280000" cy="7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Menor - Recursos propios del operador</a:t>
            </a:r>
          </a:p>
        </p:txBody>
      </p:sp>
      <p:sp>
        <p:nvSpPr>
          <p:cNvPr id="11" name="N1"/>
          <p:cNvSpPr/>
          <p:nvPr/>
        </p:nvSpPr>
        <p:spPr>
          <a:xfrm>
            <a:off x="360000" y="2520000"/>
            <a:ext cx="2520000" cy="792000"/>
          </a:xfrm>
          <a:prstGeom prst="roundRect">
            <a:avLst>
              <a:gd name="adj" fmla="val 5000"/>
            </a:avLst>
          </a:prstGeom>
          <a:solidFill>
            <a:srgbClr val="FFC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000000"/>
                </a:solidFill>
                <a:sz val="1200"/>
              </a:rPr>
              <a:t>NIVEL 2
(Amarillo)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3240000" y="2628000"/>
            <a:ext cx="8280000" cy="7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Moderada - Apoyo organismos de socorro (Linea 123)</a:t>
            </a:r>
          </a:p>
        </p:txBody>
      </p:sp>
      <p:sp>
        <p:nvSpPr>
          <p:cNvPr id="12" name="N2"/>
          <p:cNvSpPr/>
          <p:nvPr/>
        </p:nvSpPr>
        <p:spPr>
          <a:xfrm>
            <a:off x="360000" y="3600000"/>
            <a:ext cx="2520000" cy="7920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NIVEL 3
(Rojo)</a:t>
            </a:r>
          </a:p>
        </p:txBody>
      </p:sp>
      <p:sp>
        <p:nvSpPr>
          <p:cNvPr id="22" name="TextBox22"/>
          <p:cNvSpPr txBox="1"/>
          <p:nvPr/>
        </p:nvSpPr>
        <p:spPr>
          <a:xfrm>
            <a:off x="3240000" y="3708000"/>
            <a:ext cx="8280000" cy="7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Mayor - Activacion CMGRD/CDGRD</a:t>
            </a:r>
          </a:p>
        </p:txBody>
      </p:sp>
      <p:sp>
        <p:nvSpPr>
          <p:cNvPr id="13" name="N3"/>
          <p:cNvSpPr/>
          <p:nvPr/>
        </p:nvSpPr>
        <p:spPr>
          <a:xfrm>
            <a:off x="360000" y="4680000"/>
            <a:ext cx="2520000" cy="7920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NIVEL 4
(Negro)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3240000" y="4788000"/>
            <a:ext cx="8280000" cy="7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Catastrofe - Activacion Nacional UNGRD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3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200"/>
              </a:rPr>
              <a:t>SISTEMA DE COMANDO DE INCIDENTES (SCI)</a:t>
            </a:r>
          </a:p>
        </p:txBody>
      </p:sp>
      <p:sp>
        <p:nvSpPr>
          <p:cNvPr id="5" name="Circle5"/>
          <p:cNvSpPr/>
          <p:nvPr/>
        </p:nvSpPr>
        <p:spPr>
          <a:xfrm>
            <a:off x="5040000" y="1440000"/>
            <a:ext cx="1440000" cy="1440000"/>
          </a:xfrm>
          <a:prstGeom prst="ellipse">
            <a:avLst/>
          </a:prstGeom>
          <a:solidFill>
            <a:srgbClr val="1B3A5C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800"/>
              </a:rPr>
              <a:t>CI</a:t>
            </a:r>
          </a:p>
        </p:txBody>
      </p:sp>
      <p:sp>
        <p:nvSpPr>
          <p:cNvPr id="6" name="Circle6"/>
          <p:cNvSpPr/>
          <p:nvPr/>
        </p:nvSpPr>
        <p:spPr>
          <a:xfrm>
            <a:off x="2520000" y="3060000"/>
            <a:ext cx="1080000" cy="1080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OPS</a:t>
            </a:r>
          </a:p>
        </p:txBody>
      </p:sp>
      <p:sp>
        <p:nvSpPr>
          <p:cNvPr id="7" name="Circle7"/>
          <p:cNvSpPr/>
          <p:nvPr/>
        </p:nvSpPr>
        <p:spPr>
          <a:xfrm>
            <a:off x="5040000" y="3060000"/>
            <a:ext cx="1080000" cy="1080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PLAN</a:t>
            </a:r>
          </a:p>
        </p:txBody>
      </p:sp>
      <p:sp>
        <p:nvSpPr>
          <p:cNvPr id="8" name="Circle8"/>
          <p:cNvSpPr/>
          <p:nvPr/>
        </p:nvSpPr>
        <p:spPr>
          <a:xfrm>
            <a:off x="7560000" y="3060000"/>
            <a:ext cx="1080000" cy="1080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LOG</a:t>
            </a:r>
          </a:p>
        </p:txBody>
      </p:sp>
      <p:sp>
        <p:nvSpPr>
          <p:cNvPr id="9" name="TextBox9"/>
          <p:cNvSpPr txBox="1"/>
          <p:nvPr/>
        </p:nvSpPr>
        <p:spPr>
          <a:xfrm>
            <a:off x="360000" y="4680000"/>
            <a:ext cx="11520000" cy="18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ED7D31"/>
                </a:solidFill>
                <a:sz val="1500"/>
              </a:rPr>
              <a:t>Coordinacion con entidades colombianas: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CCO del Operador &gt; Linea 123 &gt; Bomberos/Policia/CRUE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CMGRD &gt; CDGRD &gt; UNGRD Nacional (segun magnitud)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3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C00000"/>
                </a:solidFill>
                <a:sz val="2200"/>
              </a:rPr>
              <a:t>NUMEROS DE EMERGENCIA - COLOMBIA</a:t>
            </a:r>
          </a:p>
        </p:txBody>
      </p:sp>
      <p:sp>
        <p:nvSpPr>
          <p:cNvPr id="10" name="Circle10"/>
          <p:cNvSpPr/>
          <p:nvPr/>
        </p:nvSpPr>
        <p:spPr>
          <a:xfrm>
            <a:off x="720000" y="1440000"/>
            <a:ext cx="648000" cy="64800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123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1800000" y="1548000"/>
            <a:ext cx="936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Numero Unico de Emergencias (NUSE)</a:t>
            </a:r>
          </a:p>
        </p:txBody>
      </p:sp>
      <p:sp>
        <p:nvSpPr>
          <p:cNvPr id="11" name="Circle11"/>
          <p:cNvSpPr/>
          <p:nvPr/>
        </p:nvSpPr>
        <p:spPr>
          <a:xfrm>
            <a:off x="720000" y="2160000"/>
            <a:ext cx="648000" cy="64800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119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1800000" y="2268000"/>
            <a:ext cx="936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Bomberos</a:t>
            </a:r>
          </a:p>
        </p:txBody>
      </p:sp>
      <p:sp>
        <p:nvSpPr>
          <p:cNvPr id="12" name="Circle12"/>
          <p:cNvSpPr/>
          <p:nvPr/>
        </p:nvSpPr>
        <p:spPr>
          <a:xfrm>
            <a:off x="720000" y="2880000"/>
            <a:ext cx="648000" cy="648000"/>
          </a:xfrm>
          <a:prstGeom prst="ellipse">
            <a:avLst/>
          </a:prstGeom>
          <a:solidFill>
            <a:srgbClr val="1B3A5C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112</a:t>
            </a:r>
          </a:p>
        </p:txBody>
      </p:sp>
      <p:sp>
        <p:nvSpPr>
          <p:cNvPr id="22" name="TextBox22"/>
          <p:cNvSpPr txBox="1"/>
          <p:nvPr/>
        </p:nvSpPr>
        <p:spPr>
          <a:xfrm>
            <a:off x="1800000" y="2988000"/>
            <a:ext cx="936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Policia Nacional</a:t>
            </a:r>
          </a:p>
        </p:txBody>
      </p:sp>
      <p:sp>
        <p:nvSpPr>
          <p:cNvPr id="13" name="Circle13"/>
          <p:cNvSpPr/>
          <p:nvPr/>
        </p:nvSpPr>
        <p:spPr>
          <a:xfrm>
            <a:off x="720000" y="3600000"/>
            <a:ext cx="648000" cy="64800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132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1800000" y="3708000"/>
            <a:ext cx="936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Cruz Roja Colombiana</a:t>
            </a:r>
          </a:p>
        </p:txBody>
      </p:sp>
      <p:sp>
        <p:nvSpPr>
          <p:cNvPr id="14" name="Circle14"/>
          <p:cNvSpPr/>
          <p:nvPr/>
        </p:nvSpPr>
        <p:spPr>
          <a:xfrm>
            <a:off x="720000" y="4320000"/>
            <a:ext cx="648000" cy="648000"/>
          </a:xfrm>
          <a:prstGeom prst="ellipse">
            <a:avLst/>
          </a:prstGeom>
          <a:solidFill>
            <a:srgbClr val="ED7D31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144</a:t>
            </a:r>
          </a:p>
        </p:txBody>
      </p:sp>
      <p:sp>
        <p:nvSpPr>
          <p:cNvPr id="24" name="TextBox24"/>
          <p:cNvSpPr txBox="1"/>
          <p:nvPr/>
        </p:nvSpPr>
        <p:spPr>
          <a:xfrm>
            <a:off x="1800000" y="4428000"/>
            <a:ext cx="936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Defensa Civil</a:t>
            </a:r>
          </a:p>
        </p:txBody>
      </p:sp>
      <p:sp>
        <p:nvSpPr>
          <p:cNvPr id="15" name="Circle15"/>
          <p:cNvSpPr/>
          <p:nvPr/>
        </p:nvSpPr>
        <p:spPr>
          <a:xfrm>
            <a:off x="720000" y="5040000"/>
            <a:ext cx="648000" cy="648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100"/>
              </a:rPr>
              <a:t>#767</a:t>
            </a:r>
          </a:p>
        </p:txBody>
      </p:sp>
      <p:sp>
        <p:nvSpPr>
          <p:cNvPr id="25" name="TextBox25"/>
          <p:cNvSpPr txBox="1"/>
          <p:nvPr/>
        </p:nvSpPr>
        <p:spPr>
          <a:xfrm>
            <a:off x="1800000" y="5148000"/>
            <a:ext cx="936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500"/>
              </a:rPr>
              <a:t>Transito y Transporte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4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600"/>
              </a:rPr>
              <a:t>PROTOCOLO RAPCE</a:t>
            </a:r>
          </a:p>
        </p:txBody>
      </p:sp>
      <p:sp>
        <p:nvSpPr>
          <p:cNvPr id="10" name="Circle10"/>
          <p:cNvSpPr/>
          <p:nvPr/>
        </p:nvSpPr>
        <p:spPr>
          <a:xfrm>
            <a:off x="720000" y="1512000"/>
            <a:ext cx="720000" cy="720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2000"/>
              </a:rPr>
              <a:t>R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1800000" y="1620000"/>
            <a:ext cx="9360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404040"/>
                </a:solidFill>
                <a:sz val="1600"/>
              </a:rPr>
              <a:t>RECONOCER la emergencia</a:t>
            </a:r>
          </a:p>
        </p:txBody>
      </p:sp>
      <p:sp>
        <p:nvSpPr>
          <p:cNvPr id="11" name="Circle11"/>
          <p:cNvSpPr/>
          <p:nvPr/>
        </p:nvSpPr>
        <p:spPr>
          <a:xfrm>
            <a:off x="720000" y="2376000"/>
            <a:ext cx="720000" cy="720000"/>
          </a:xfrm>
          <a:prstGeom prst="ellipse">
            <a:avLst/>
          </a:prstGeom>
          <a:solidFill>
            <a:srgbClr val="ED7D31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2000"/>
              </a:rPr>
              <a:t>A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1800000" y="2484000"/>
            <a:ext cx="9360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404040"/>
                </a:solidFill>
                <a:sz val="1600"/>
              </a:rPr>
              <a:t>ALERTAR al CCO + Linea 123</a:t>
            </a:r>
          </a:p>
        </p:txBody>
      </p:sp>
      <p:sp>
        <p:nvSpPr>
          <p:cNvPr id="12" name="Circle12"/>
          <p:cNvSpPr/>
          <p:nvPr/>
        </p:nvSpPr>
        <p:spPr>
          <a:xfrm>
            <a:off x="720000" y="3240000"/>
            <a:ext cx="720000" cy="720000"/>
          </a:xfrm>
          <a:prstGeom prst="ellipse">
            <a:avLst/>
          </a:prstGeom>
          <a:solidFill>
            <a:srgbClr val="70AD47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2000"/>
              </a:rPr>
              <a:t>P</a:t>
            </a:r>
          </a:p>
        </p:txBody>
      </p:sp>
      <p:sp>
        <p:nvSpPr>
          <p:cNvPr id="22" name="TextBox22"/>
          <p:cNvSpPr txBox="1"/>
          <p:nvPr/>
        </p:nvSpPr>
        <p:spPr>
          <a:xfrm>
            <a:off x="1800000" y="3348000"/>
            <a:ext cx="9360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404040"/>
                </a:solidFill>
                <a:sz val="1600"/>
              </a:rPr>
              <a:t>PROTEGER la zona</a:t>
            </a:r>
          </a:p>
        </p:txBody>
      </p:sp>
      <p:sp>
        <p:nvSpPr>
          <p:cNvPr id="13" name="Circle13"/>
          <p:cNvSpPr/>
          <p:nvPr/>
        </p:nvSpPr>
        <p:spPr>
          <a:xfrm>
            <a:off x="720000" y="4104000"/>
            <a:ext cx="720000" cy="720000"/>
          </a:xfrm>
          <a:prstGeom prst="ellipse">
            <a:avLst/>
          </a:prstGeom>
          <a:solidFill>
            <a:srgbClr val="FFC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2000"/>
              </a:rPr>
              <a:t>C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1800000" y="4212000"/>
            <a:ext cx="9360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404040"/>
                </a:solidFill>
                <a:sz val="1600"/>
              </a:rPr>
              <a:t>CONTENER sin exponerse</a:t>
            </a:r>
          </a:p>
        </p:txBody>
      </p:sp>
      <p:sp>
        <p:nvSpPr>
          <p:cNvPr id="14" name="Circle14"/>
          <p:cNvSpPr/>
          <p:nvPr/>
        </p:nvSpPr>
        <p:spPr>
          <a:xfrm>
            <a:off x="720000" y="4968000"/>
            <a:ext cx="720000" cy="72000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2000"/>
              </a:rPr>
              <a:t>E</a:t>
            </a:r>
          </a:p>
        </p:txBody>
      </p:sp>
      <p:sp>
        <p:nvSpPr>
          <p:cNvPr id="24" name="TextBox24"/>
          <p:cNvSpPr txBox="1"/>
          <p:nvPr/>
        </p:nvSpPr>
        <p:spPr>
          <a:xfrm>
            <a:off x="1800000" y="5076000"/>
            <a:ext cx="9360000" cy="648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404040"/>
                </a:solidFill>
                <a:sz val="1600"/>
              </a:rPr>
              <a:t>ESPERAR/EVACUAR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5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200"/>
              </a:rPr>
              <a:t>EVACUACION DE PASAJEROS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360000" y="1440000"/>
            <a:ext cx="5400000" cy="43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C00000"/>
                </a:solidFill>
                <a:sz val="1500"/>
              </a:rPr>
              <a:t>Evacuar SI hay: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Incendio incontrolable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Riesgo de explosion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Inundacion del tren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Ladera inestable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Derrame toxico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6120000" y="1440000"/>
            <a:ext cx="5400000" cy="43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70AD47"/>
                </a:solidFill>
                <a:sz val="1500"/>
              </a:rPr>
              <a:t>NO evacuar si: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Tunel sin incendio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Catenaria danada/caida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Viaducto/puente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Tren adyacente cercano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Grupos armados (coordinar)</a:t>
            </a:r>
          </a:p>
        </p:txBody>
      </p:sp>
      <p:sp>
        <p:nvSpPr>
          <p:cNvPr id="7" name="TextBox7"/>
          <p:cNvSpPr txBox="1"/>
          <p:nvPr/>
        </p:nvSpPr>
        <p:spPr>
          <a:xfrm>
            <a:off x="360000" y="4680000"/>
            <a:ext cx="11520000" cy="14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ED7D31"/>
                </a:solidFill>
                <a:sz val="1300"/>
              </a:rPr>
              <a:t>Prioridad: Movilidad reducida &gt; Ninos/adultos mayores &gt; Embarazadas &gt; Heridos &gt; Resto</a:t>
            </a:r>
          </a:p>
        </p:txBody>
      </p:sp>
    </p:spTree>
  </p:cSld>
</p:sld>
</file>

<file path=ppt/slides/slide12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bg>
      <p:bgPr>
        <a:solidFill><a:srgbClr val="FFFFFF"/></a:solidFill>
        <a:effectLst/>
      </p:bgPr>
    </p:bg>
    <p:spTree>
      <p:nvGrpSpPr><p:cNvPr id="1" name=""/><p:cNvGrpSpPr/><p:nvPr/></p:nvGrpSpPr>
      <p:grpSpPr/>
      <p:sp>
  <p:nvSpPr><p:cNvPr id="2" name="Line2"/><p:cNvSpPr/><p:nvPr/></p:nvSpPr>
  <p:spPr>
    <a:xfrm><a:off x="0" y="0"/><a:ext cx="12192000" cy="540000"/></a:xfrm>
    <a:prstGeom prst="rect"><a:avLst/></a:prstGeom>
    <a:solidFill><a:srgbClr val="1B3A5C"/></a:solidFill>
    <a:ln w="0"><a:noFill/></a:ln>
  </p:spPr>
</p:sp><p:sp>
  <p:nvSpPr><p:cNvPr id="3" name="TextBox3"/><p:cNvSpPr txBox="1"/><p:nvPr/></p:nvSpPr>
  <p:spPr>
    <a:xfrm><a:off x="360000" y="36000"/><a:ext cx="7200000" cy="503999"/></a:xfrm>
    <a:prstGeom prst="rect"><a:avLst/></a:prstGeom>
    <a:noFill/>
  </p:spPr>
  <p:txBody>
    <a:bodyPr wrap="square" rtlCol="0"/>
    <a:lstStyle/>
    <a:p><a:pPr algn="l"/><a:r><a:rPr lang="es-CO" b="1" dirty="0"><a:solidFill><a:srgbClr val="FFFFFF"/></a:solidFill><a:sz val="1800"/></a:rPr><a:t>MODULO 5</a:t></a:r></a:p>

  </p:txBody>
</p:sp><p:sp>
  <p:nvSpPr><p:cNvPr id="4" name="TextBox4"/><p:cNvSpPr txBox="1"/><p:nvPr/></p:nvSpPr>
  <p:spPr>
    <a:xfrm><a:off x="360000" y="720000"/><a:ext cx="11520000" cy="540000"/></a:xfrm>
    <a:prstGeom prst="rect"><a:avLst/></a:prstGeom>
    <a:noFill/>
  </p:spPr>
  <p:txBody>
    <a:bodyPr wrap="square" rtlCol="0"/>
    <a:lstStyle/>
    <a:p><a:pPr algn="ctr"/><a:r><a:rPr lang="es-CO" b="1" dirty="0"><a:solidFill><a:srgbClr val="1B3A5C"/></a:solidFill><a:sz val="2200"/></a:rPr><a:t>TRIAGE START - Clasificacion de Victimas</a:t></a:r></a:p>

  </p:txBody>
</p:sp><p:sp>
  <p:nvSpPr><p:cNvPr id="10" name="T0"/><p:cNvSpPr/><p:nvPr/></p:nvSpPr>
  <p:spPr>
    <a:xfrm><a:off x="360000" y="1620000"/><a:ext cx="2880000" cy="792000"/></a:xfrm>
    <a:prstGeom prst="roundRect"><a:avLst><a:gd name="adj" fmla="val 5000"/></a:avLst></a:prstGeom>
    <a:solidFill><a:srgbClr val="000000"/></a:solidFill>
    <a:ln w="0"><a:noFill/></a:ln>
  </p:spPr>
  <p:txBody>
    <a:bodyPr anchor="ctr" anchorCtr="1"/>
    <a:lstStyle/>
    <a:p><a:pPr algn="ctr"/><a:r><a:rPr lang="es-CO" b="1" dirty="0"><a:solidFill><a:srgbClr val="FFFFFF"/></a:solidFill><a:sz val="1400"/></a:rPr><a:t>NEGRO</a:t></a:r></a:p>
  </p:txBody>
</p:sp><p:sp>
  <p:nvSpPr><p:cNvPr id="20" name="TextBox20"/><p:cNvSpPr txBox="1"/><p:nvPr/></p:nvSpPr>
  <p:spPr>
    <a:xfrm><a:off x="3600000" y="1728000"/><a:ext cx="7920000" cy="720000"/></a:xfrm>
    <a:prstGeom prst="rect"><a:avLst/></a:prstGeom>
    <a:noFill/>
  </p:spPr>
  <p:txBody>
    <a:bodyPr wrap="square" rtlCol="0"/>
    <a:lstStyle/>
    <a:p><a:pPr algn="l"/><a:r><a:rPr lang="es-CO" dirty="0"><a:solidFill><a:srgbClr val="404040"/></a:solidFill><a:sz val="1400"/></a:rPr><a:t>Fallecido - Sin respiracion</a:t></a:r></a:p>

  </p:txBody>
</p:sp><p:sp>
  <p:nvSpPr><p:cNvPr id="11" name="T1"/><p:cNvSpPr/><p:nvPr/></p:nvSpPr>
  <p:spPr>
    <a:xfrm><a:off x="360000" y="2627999"/><a:ext cx="2880000" cy="792000"/></a:xfrm>
    <a:prstGeom prst="roundRect"><a:avLst><a:gd name="adj" fmla="val 5000"/></a:avLst></a:prstGeom>
    <a:solidFill><a:srgbClr val="C00000"/></a:solidFill>
    <a:ln w="0"><a:noFill/></a:ln>
  </p:spPr>
  <p:txBody>
    <a:bodyPr anchor="ctr" anchorCtr="1"/>
    <a:lstStyle/>
    <a:p><a:pPr algn="ctr"/><a:r><a:rPr lang="es-CO" b="1" dirty="0"><a:solidFill><a:srgbClr val="FFFFFF"/></a:solidFill><a:sz val="1400"/></a:rPr><a:t>ROJO</a:t></a:r></a:p>
  </p:txBody>
</p:sp><p:sp>
  <p:nvSpPr><p:cNvPr id="21" name="TextBox21"/><p:cNvSpPr txBox="1"/><p:nvPr/></p:nvSpPr>
  <p:spPr>
    <a:xfrm><a:off x="3600000" y="2735999"/><a:ext cx="7920000" cy="720000"/></a:xfrm>
    <a:prstGeom prst="rect"><a:avLst/></a:prstGeom>
    <a:noFill/>
  </p:spPr>
  <p:txBody>
    <a:bodyPr wrap="square" rtlCol="0"/>
    <a:lstStyle/>
    <a:p><a:pPr algn="l"/><a:r><a:rPr lang="es-CO" dirty="0"><a:solidFill><a:srgbClr val="404040"/></a:solidFill><a:sz val="1400"/></a:rPr><a:t>Inmediato - Riesgo vital < 60 min</a:t></a:r></a:p>

  </p:txBody>
</p:sp><p:sp>
  <p:nvSpPr><p:cNvPr id="12" name="T2"/><p:cNvSpPr/><p:nvPr/></p:nvSpPr>
  <p:spPr>
    <a:xfrm><a:off x="360000" y="3635998"/><a:ext cx="2880000" cy="792000"/></a:xfrm>
    <a:prstGeom prst="roundRect"><a:avLst><a:gd name="adj" fmla="val 5000"/></a:avLst></a:prstGeom>
    <a:solidFill><a:srgbClr val="FFC000"/></a:solidFill>
    <a:ln w="0"><a:noFill/></a:ln>
  </p:spPr>
  <p:txBody>
    <a:bodyPr anchor="ctr" anchorCtr="1"/>
    <a:lstStyle/>
    <a:p><a:pPr algn="ctr"/><a:r><a:rPr lang="es-CO" b="1" dirty="0"><a:solidFill><a:srgbClr val="000000"/></a:solidFill><a:sz val="1400"/></a:rPr><a:t>AMARILLO</a:t></a:r></a:p>
  </p:txBody>
</p:sp><p:sp>
  <p:nvSpPr><p:cNvPr id="22" name="TextBox22"/><p:cNvSpPr txBox="1"/><p:nvPr/></p:nvSpPr>
  <p:spPr>
    <a:xfrm><a:off x="3600000" y="3743998"/><a:ext cx="7920000" cy="720000"/></a:xfrm>
    <a:prstGeom prst="rect"><a:avLst/></a:prstGeom>
    <a:noFill/>
  </p:spPr>
  <p:txBody>
    <a:bodyPr wrap="square" rtlCol="0"/>
    <a:lstStyle/>
    <a:p><a:pPr algn="l"/><a:r><a:rPr lang="es-CO" dirty="0"><a:solidFill><a:srgbClr val="404040"/></a:solidFill><a:sz val="1400"/></a:rPr><a:t>Urgente - Serio pero estable</a:t></a:r></a:p>

  </p:txBody>
</p:sp><p:sp>
  <p:nvSpPr><p:cNvPr id="13" name="T3"/><p:cNvSpPr/><p:nvPr/></p:nvSpPr>
  <p:spPr>
    <a:xfrm><a:off x="360000" y="4643997"/><a:ext cx="2880000" cy="792000"/></a:xfrm>
    <a:prstGeom prst="roundRect"><a:avLst><a:gd name="adj" fmla="val 5000"/></a:avLst></a:prstGeom>
    <a:solidFill><a:srgbClr val="70AD47"/></a:solidFill>
    <a:ln w="0"><a:noFill/></a:ln>
  </p:spPr>
  <p:txBody>
    <a:bodyPr anchor="ctr" anchorCtr="1"/>
    <a:lstStyle/>
    <a:p><a:pPr algn="ctr"/><a:r><a:rPr lang="es-CO" b="1" dirty="0"><a:solidFill><a:srgbClr val="FFFFFF"/></a:solidFill><a:sz val="1400"/></a:rPr><a:t>VERDE</a:t></a:r></a:p>
  </p:txBody>
</p:sp><p:sp>
  <p:nvSpPr><p:cNvPr id="23" name="TextBox23"/><p:cNvSpPr txBox="1"/><p:nvPr/></p:nvSpPr>
  <p:spPr>
    <a:xfrm><a:off x="3600000" y="4751997"/><a:ext cx="7920000" cy="720000"/></a:xfrm>
    <a:prstGeom prst="rect"><a:avLst/></a:prstGeom>
    <a:noFill/>
  </p:spPr>
  <p:txBody>
    <a:bodyPr wrap="square" rtlCol="0"/>
    <a:lstStyle/>
    <a:p><a:pPr algn="l"/><a:r><a:rPr lang="es-CO" dirty="0"><a:solidFill><a:srgbClr val="404040"/></a:solidFill><a:sz val="1400"/></a:rPr><a:t>Menor - Camina, ambulatorio</a:t></a:r></a:p>

  </p:txBody>
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6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200"/>
              </a:rPr>
              <a:t>MATERIALES PELIGROSOS (MATPEL)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360000" y="1440000"/>
            <a:ext cx="11520000" cy="108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C00000"/>
                </a:solidFill>
                <a:sz val="1800"/>
              </a:rPr>
              <a:t>Personal ferroviario NO es respondedor MATPEL</a:t>
            </a:r>
          </a:p>
          <a:p>
            <a:pPr algn="ctr"/>
            <a:r>
              <a:rPr lang="es-CO" b="1" dirty="0">
                <a:solidFill>
                  <a:srgbClr val="404040"/>
                </a:solidFill>
                <a:sz val="1400"/>
              </a:rPr>
              <a:t>Su funcion es: RECONOCER - RETIRARSE - REPORTAR - RESTRINGIR - REFERIR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360000" y="2700000"/>
            <a:ext cx="5400000" cy="288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C00000"/>
                </a:solidFill>
                <a:sz val="1500"/>
              </a:rPr>
              <a:t>NUNCA hacer: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X Intentar sellar fugas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X Caminar sobre derrames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X Inhalar para identificar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X Tocar contenedores danados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X Usar agua sin conocer material</a:t>
            </a:r>
          </a:p>
        </p:txBody>
      </p:sp>
      <p:sp>
        <p:nvSpPr>
          <p:cNvPr id="7" name="TextBox7"/>
          <p:cNvSpPr txBox="1"/>
          <p:nvPr/>
        </p:nvSpPr>
        <p:spPr>
          <a:xfrm>
            <a:off x="6120000" y="2700000"/>
            <a:ext cx="5400000" cy="288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2E75B6"/>
                </a:solidFill>
                <a:sz val="1500"/>
              </a:rPr>
              <a:t>Distancias minimas: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Gases toxicos: 800m/3,200m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Liquidos inflamables: 300m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Explosivos: 1,600m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/>
            </a:r>
          </a:p>
          <a:p>
            <a:pPr algn="l"/>
            <a:r>
              <a:rPr lang="es-CO" b="1" dirty="0">
                <a:solidFill>
                  <a:srgbClr val="ED7D31"/>
                </a:solidFill>
                <a:sz val="1300"/>
              </a:rPr>
              <a:t>  Retirarse A FAVOR del viento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7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200"/>
              </a:rPr>
              <a:t>COMUNICACION EN CRISIS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360000" y="1440000"/>
            <a:ext cx="11520000" cy="7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2E75B6"/>
                </a:solidFill>
                <a:sz val="1600"/>
              </a:rPr>
              <a:t>Las 5 C de la comunicacion en emergencias:</a:t>
            </a:r>
          </a:p>
        </p:txBody>
      </p:sp>
      <p:sp>
        <p:nvSpPr>
          <p:cNvPr id="10" name="C0"/>
          <p:cNvSpPr/>
          <p:nvPr/>
        </p:nvSpPr>
        <p:spPr>
          <a:xfrm>
            <a:off x="360000" y="2340000"/>
            <a:ext cx="1980000" cy="72000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CLARA</a:t>
            </a:r>
          </a:p>
        </p:txBody>
      </p:sp>
      <p:sp>
        <p:nvSpPr>
          <p:cNvPr id="11" name="C1"/>
          <p:cNvSpPr/>
          <p:nvPr/>
        </p:nvSpPr>
        <p:spPr>
          <a:xfrm>
            <a:off x="2592000" y="2340000"/>
            <a:ext cx="1980000" cy="720000"/>
          </a:xfrm>
          <a:prstGeom prst="roundRect">
            <a:avLst>
              <a:gd name="adj" fmla="val 5000"/>
            </a:avLst>
          </a:prstGeom>
          <a:solidFill>
            <a:srgbClr val="70AD47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CONCISA</a:t>
            </a:r>
          </a:p>
        </p:txBody>
      </p:sp>
      <p:sp>
        <p:nvSpPr>
          <p:cNvPr id="12" name="C2"/>
          <p:cNvSpPr/>
          <p:nvPr/>
        </p:nvSpPr>
        <p:spPr>
          <a:xfrm>
            <a:off x="4824000" y="2340000"/>
            <a:ext cx="1980000" cy="720000"/>
          </a:xfrm>
          <a:prstGeom prst="roundRect">
            <a:avLst>
              <a:gd name="adj" fmla="val 5000"/>
            </a:avLst>
          </a:prstGeom>
          <a:solidFill>
            <a:srgbClr val="ED7D31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CORRECTA</a:t>
            </a:r>
          </a:p>
        </p:txBody>
      </p:sp>
      <p:sp>
        <p:nvSpPr>
          <p:cNvPr id="13" name="C3"/>
          <p:cNvSpPr/>
          <p:nvPr/>
        </p:nvSpPr>
        <p:spPr>
          <a:xfrm>
            <a:off x="7056000" y="2340000"/>
            <a:ext cx="1980000" cy="7200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COMPLETA</a:t>
            </a:r>
          </a:p>
        </p:txBody>
      </p:sp>
      <p:sp>
        <p:nvSpPr>
          <p:cNvPr id="14" name="C4"/>
          <p:cNvSpPr/>
          <p:nvPr/>
        </p:nvSpPr>
        <p:spPr>
          <a:xfrm>
            <a:off x="9288000" y="2340000"/>
            <a:ext cx="1980000" cy="720000"/>
          </a:xfrm>
          <a:prstGeom prst="roundRect">
            <a:avLst>
              <a:gd name="adj" fmla="val 5000"/>
            </a:avLst>
          </a:prstGeom>
          <a:solidFill>
            <a:srgbClr val="1B3A5C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CONFIRMADA</a:t>
            </a:r>
          </a:p>
        </p:txBody>
      </p:sp>
      <p:sp>
        <p:nvSpPr>
          <p:cNvPr id="6" name="TextBox6"/>
          <p:cNvSpPr txBox="1"/>
          <p:nvPr/>
        </p:nvSpPr>
        <p:spPr>
          <a:xfrm>
            <a:off x="360000" y="3600000"/>
            <a:ext cx="11520000" cy="25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404040"/>
                </a:solidFill>
                <a:sz val="1400"/>
              </a:rPr>
              <a:t>Formato de reporte: QUE - DONDE - CUANDO - MAGNITUD</a:t>
            </a:r>
          </a:p>
          <a:p>
            <a:pPr algn="l"/>
            <a:r>
              <a:rPr lang="es-CO" b="1" dirty="0">
                <a:solidFill>
                  <a:srgbClr val="404040"/>
                </a:solidFill>
                <a:sz val="1400"/>
              </a:rPr>
              <a:t>                    VICTIMAS - NECESIDADES - ACCESO - RIESGOS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/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Cadena: Evento &gt; CCO &gt; Linea 123 &gt; Bomberos/Policia/CRUE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                                  &gt; CMGRD &gt; CDGRD &gt; UNGRD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8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1080000"/>
            <a:ext cx="11520000" cy="108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800"/>
              </a:rPr>
              <a:t>CASOS REALES DE ESTUDIO</a:t>
            </a:r>
          </a:p>
          <a:p>
            <a:pPr algn="ctr"/>
            <a:r>
              <a:rPr lang="es-CO" dirty="0">
                <a:solidFill>
                  <a:srgbClr val="404040"/>
                </a:solidFill>
                <a:sz val="1600"/>
              </a:rPr>
              <a:t>Aprender de accidentes para prevenir</a:t>
            </a:r>
          </a:p>
        </p:txBody>
      </p:sp>
      <p:sp>
        <p:nvSpPr>
          <p:cNvPr id="10" name="Circle10"/>
          <p:cNvSpPr/>
          <p:nvPr/>
        </p:nvSpPr>
        <p:spPr>
          <a:xfrm>
            <a:off x="720000" y="2520000"/>
            <a:ext cx="540000" cy="540000"/>
          </a:xfrm>
          <a:prstGeom prst="ellipse">
            <a:avLst/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1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1620000" y="2556000"/>
            <a:ext cx="97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Santiago de Compostela 2013 - 79 muertos - Velocidad</a:t>
            </a:r>
          </a:p>
        </p:txBody>
      </p:sp>
      <p:sp>
        <p:nvSpPr>
          <p:cNvPr id="11" name="Circle11"/>
          <p:cNvSpPr/>
          <p:nvPr/>
        </p:nvSpPr>
        <p:spPr>
          <a:xfrm>
            <a:off x="720000" y="3240000"/>
            <a:ext cx="540000" cy="540000"/>
          </a:xfrm>
          <a:prstGeom prst="ellipse">
            <a:avLst/>
          </a:prstGeom>
          <a:solidFill>
            <a:srgbClr val="ED7D31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2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1620000" y="3276000"/>
            <a:ext cx="97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Lac-Megantic, Canada 2013 - 47 muertos - MATPEL</a:t>
            </a:r>
          </a:p>
        </p:txBody>
      </p:sp>
      <p:sp>
        <p:nvSpPr>
          <p:cNvPr id="12" name="Circle12"/>
          <p:cNvSpPr/>
          <p:nvPr/>
        </p:nvSpPr>
        <p:spPr>
          <a:xfrm>
            <a:off x="720000" y="3960000"/>
            <a:ext cx="540000" cy="540000"/>
          </a:xfrm>
          <a:prstGeom prst="ellipse">
            <a:avLst/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3</a:t>
            </a:r>
          </a:p>
        </p:txBody>
      </p:sp>
      <p:sp>
        <p:nvSpPr>
          <p:cNvPr id="22" name="TextBox22"/>
          <p:cNvSpPr txBox="1"/>
          <p:nvPr/>
        </p:nvSpPr>
        <p:spPr>
          <a:xfrm>
            <a:off x="1620000" y="3996000"/>
            <a:ext cx="97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Balasore, India 2023 - 296 muertos - Senalizacion</a:t>
            </a:r>
          </a:p>
        </p:txBody>
      </p:sp>
      <p:sp>
        <p:nvSpPr>
          <p:cNvPr id="13" name="Circle13"/>
          <p:cNvSpPr/>
          <p:nvPr/>
        </p:nvSpPr>
        <p:spPr>
          <a:xfrm>
            <a:off x="720000" y="4680000"/>
            <a:ext cx="540000" cy="540000"/>
          </a:xfrm>
          <a:prstGeom prst="ellipse">
            <a:avLst/>
          </a:prstGeom>
          <a:solidFill>
            <a:srgbClr val="70AD47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4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1620000" y="4716000"/>
            <a:ext cx="97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East Palestine, EE.UU. 2023 - Contaminacion masiva</a:t>
            </a:r>
          </a:p>
        </p:txBody>
      </p:sp>
      <p:sp>
        <p:nvSpPr>
          <p:cNvPr id="14" name="Circle14"/>
          <p:cNvSpPr/>
          <p:nvPr/>
        </p:nvSpPr>
        <p:spPr>
          <a:xfrm>
            <a:off x="720000" y="5400000"/>
            <a:ext cx="540000" cy="540000"/>
          </a:xfrm>
          <a:prstGeom prst="ellipse">
            <a:avLst/>
          </a:prstGeom>
          <a:solidFill>
            <a:srgbClr val="1B3A5C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5</a:t>
            </a:r>
          </a:p>
        </p:txBody>
      </p:sp>
      <p:sp>
        <p:nvSpPr>
          <p:cNvPr id="24" name="TextBox24"/>
          <p:cNvSpPr txBox="1"/>
          <p:nvPr/>
        </p:nvSpPr>
        <p:spPr>
          <a:xfrm>
            <a:off x="1620000" y="5436000"/>
            <a:ext cx="97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Pasos a Nivel Colombia - Problematica local recurrente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108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CASO 1: SANTIAGO DE COMPOSTELA 2013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900000"/>
            <a:ext cx="11520000" cy="50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C00000"/>
                </a:solidFill>
                <a:sz val="1600"/>
              </a:rPr>
              <a:t>79 fallecidos | Espana | Tren Alvia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Causa: Exceso de velocidad (190 km/h en zona de 80 km/h)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El maquinista hablaba por telefono y no freno a tiempo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b="1" dirty="0">
                <a:solidFill>
                  <a:srgbClr val="ED7D31"/>
                </a:solidFill>
                <a:sz val="1500"/>
              </a:rPr>
              <a:t>Lecciones para Colombia: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Implementar proteccion automatica en puntos criticos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Prohibir comunicaciones no esenciales en zonas criticas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No depender SOLO del factor humano como barrera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Aplicable a Metro Bogota y RegioTram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b="1" dirty="0">
                <a:solidFill>
                  <a:srgbClr val="2E75B6"/>
                </a:solidFill>
                <a:sz val="1300"/>
              </a:rPr>
              <a:t>Pregunta: En su operacion, el factor humano es la unica barrera?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108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CASO 2: LAC-MEGANTIC, CANADA 2013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900000"/>
            <a:ext cx="11520000" cy="50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C00000"/>
                </a:solidFill>
                <a:sz val="1600"/>
              </a:rPr>
              <a:t>47 fallecidos | Canada | Tren de petroleo crudo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Causa: Tren fugado con 72 cisterna exploto en centro del pueblo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Frenos insuficientes, pendiente, un solo operador, sin vigilancia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b="1" dirty="0">
                <a:solidFill>
                  <a:srgbClr val="ED7D31"/>
                </a:solidFill>
                <a:sz val="1500"/>
              </a:rPr>
              <a:t>Lecciones para Colombia: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Topografia montanosa = riesgo de trenes fugados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Comunidades viven cerca de la via ferrea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Protocolos de aseguramiento en pendientes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Coordinacion Bomberos-operador ferroviario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b="1" dirty="0">
                <a:solidFill>
                  <a:srgbClr val="2E75B6"/>
                </a:solidFill>
                <a:sz val="1300"/>
              </a:rPr>
              <a:t>Pregunta: Hay comunidades en riesgo cerca de corredores de carga?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C00000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108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CASO 3: BALASORE, INDIA 2023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900000"/>
            <a:ext cx="11520000" cy="50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C00000"/>
                </a:solidFill>
                <a:sz val="1600"/>
              </a:rPr>
              <a:t>296 fallecidos, 1000+ heridos | India | Triple colision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Causa: Error en senalizacion dirigio tren a via ocupada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400"/>
              </a:rPr>
              <a:t>Efecto domino: 3 trenes involucrados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b="1" dirty="0">
                <a:solidFill>
                  <a:srgbClr val="ED7D31"/>
                </a:solidFill>
                <a:sz val="1500"/>
              </a:rPr>
              <a:t>Lecciones para Colombia: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Verificacion CRITICA tras mantenimiento de senalizacion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Capacidad del SNGRD para eventos con cientos de victimas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Hospitales cercanos a corredores deben estar preparados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b="1" dirty="0">
                <a:solidFill>
                  <a:srgbClr val="2E75B6"/>
                </a:solidFill>
                <a:sz val="1300"/>
              </a:rPr>
              <a:t>Pregunta: Esta preparado el sistema de salud para un evento masivo?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108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CASO 5: PASOS A NIVEL EN COLOMBIA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900000"/>
            <a:ext cx="11520000" cy="50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C00000"/>
                </a:solidFill>
                <a:sz val="1600"/>
              </a:rPr>
              <a:t>Problematica recurrente en corredores ferreos colombianos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b="1" dirty="0">
                <a:solidFill>
                  <a:srgbClr val="ED7D31"/>
                </a:solidFill>
                <a:sz val="1500"/>
              </a:rPr>
              <a:t>Factores de riesgo: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Pasos a nivel sin barreras ni senalizacion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Motociclistas que intentan "ganarle" al tren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Invasion del corredor ferreo (construcciones informales)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Baja percepcion del riesgo por la comunidad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Animales domesticos en la via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200"/>
              </a:rPr>
              <a:t/>
            </a:r>
          </a:p>
          <a:p>
            <a:pPr algn="l"/>
            <a:r>
              <a:rPr lang="es-CO" b="1" dirty="0">
                <a:solidFill>
                  <a:srgbClr val="70AD47"/>
                </a:solidFill>
                <a:sz val="1500"/>
              </a:rPr>
              <a:t>Acciones necesarias: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Campanas educativas con comunidades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Barreras automaticas en pasos criticos</a:t>
            </a:r>
          </a:p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  - Atencion psicologica post-traumatica para maquinistas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TextBox3"/>
          <p:cNvSpPr txBox="1"/>
          <p:nvPr/>
        </p:nvSpPr>
        <p:spPr>
          <a:xfrm>
            <a:off x="360000" y="36000"/>
            <a:ext cx="7200000" cy="503999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b="1" dirty="0">
                <a:solidFill>
                  <a:srgbClr val="FFFFFF"/>
                </a:solidFill>
                <a:sz val="1800"/>
              </a:rPr>
              <a:t>MODULO 9</a:t>
            </a:r>
          </a:p>
        </p:txBody>
      </p:sp>
      <p:sp>
        <p:nvSpPr>
          <p:cNvPr id="4" name="TextBox4"/>
          <p:cNvSpPr txBox="1"/>
          <p:nvPr/>
        </p:nvSpPr>
        <p:spPr>
          <a:xfrm>
            <a:off x="360000" y="720000"/>
            <a:ext cx="11520000" cy="54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2200"/>
              </a:rPr>
              <a:t>SIMULACROS Y EJERCICIOS PRACTICOS</a:t>
            </a:r>
          </a:p>
        </p:txBody>
      </p:sp>
      <p:sp>
        <p:nvSpPr>
          <p:cNvPr id="10" name="E0"/>
          <p:cNvSpPr/>
          <p:nvPr/>
        </p:nvSpPr>
        <p:spPr>
          <a:xfrm>
            <a:off x="360000" y="1620000"/>
            <a:ext cx="3960000" cy="792000"/>
          </a:xfrm>
          <a:prstGeom prst="roundRect">
            <a:avLst>
              <a:gd name="adj" fmla="val 5000"/>
            </a:avLst>
          </a:prstGeom>
          <a:solidFill>
            <a:srgbClr val="70AD47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Drill (mensual)</a:t>
            </a:r>
          </a:p>
        </p:txBody>
      </p:sp>
      <p:sp>
        <p:nvSpPr>
          <p:cNvPr id="20" name="TextBox20"/>
          <p:cNvSpPr txBox="1"/>
          <p:nvPr/>
        </p:nvSpPr>
        <p:spPr>
          <a:xfrm>
            <a:off x="4680000" y="1728000"/>
            <a:ext cx="6840000" cy="7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Practica accion especifica: extintor, triage</a:t>
            </a:r>
          </a:p>
        </p:txBody>
      </p:sp>
      <p:sp>
        <p:nvSpPr>
          <p:cNvPr id="11" name="E1"/>
          <p:cNvSpPr/>
          <p:nvPr/>
        </p:nvSpPr>
        <p:spPr>
          <a:xfrm>
            <a:off x="360000" y="2627999"/>
            <a:ext cx="3960000" cy="792000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Mesa (trimestral)</a:t>
            </a:r>
          </a:p>
        </p:txBody>
      </p:sp>
      <p:sp>
        <p:nvSpPr>
          <p:cNvPr id="21" name="TextBox21"/>
          <p:cNvSpPr txBox="1"/>
          <p:nvPr/>
        </p:nvSpPr>
        <p:spPr>
          <a:xfrm>
            <a:off x="4680000" y="2735999"/>
            <a:ext cx="6840000" cy="7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Discusion grupal de escenarios</a:t>
            </a:r>
          </a:p>
        </p:txBody>
      </p:sp>
      <p:sp>
        <p:nvSpPr>
          <p:cNvPr id="12" name="E2"/>
          <p:cNvSpPr/>
          <p:nvPr/>
        </p:nvSpPr>
        <p:spPr>
          <a:xfrm>
            <a:off x="360000" y="3635998"/>
            <a:ext cx="3960000" cy="792000"/>
          </a:xfrm>
          <a:prstGeom prst="roundRect">
            <a:avLst>
              <a:gd name="adj" fmla="val 5000"/>
            </a:avLst>
          </a:prstGeom>
          <a:solidFill>
            <a:srgbClr val="ED7D31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Funcional (semestral)</a:t>
            </a:r>
          </a:p>
        </p:txBody>
      </p:sp>
      <p:sp>
        <p:nvSpPr>
          <p:cNvPr id="22" name="TextBox22"/>
          <p:cNvSpPr txBox="1"/>
          <p:nvPr/>
        </p:nvSpPr>
        <p:spPr>
          <a:xfrm>
            <a:off x="4680000" y="3743998"/>
            <a:ext cx="6840000" cy="7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Practica de funciones: comunicacion, evacuacion</a:t>
            </a:r>
          </a:p>
        </p:txBody>
      </p:sp>
      <p:sp>
        <p:nvSpPr>
          <p:cNvPr id="13" name="E3"/>
          <p:cNvSpPr/>
          <p:nvPr/>
        </p:nvSpPr>
        <p:spPr>
          <a:xfrm>
            <a:off x="360000" y="4643997"/>
            <a:ext cx="3960000" cy="7920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 w="0">
            <a:noFill/>
          </a:ln>
        </p:spPr>
        <p:txBody>
          <a:bodyPr anchor="ctr" anchorCtr="1"/>
          <a:lstStyle/>
          <a:p>
            <a:pPr algn="ctr"/>
            <a:r>
              <a:rPr lang="es-CO" b="1" dirty="0">
                <a:solidFill>
                  <a:srgbClr val="FFFFFF"/>
                </a:solidFill>
                <a:sz val="1200"/>
              </a:rPr>
              <a:t>Escala completa (anual)</a:t>
            </a:r>
          </a:p>
        </p:txBody>
      </p:sp>
      <p:sp>
        <p:nvSpPr>
          <p:cNvPr id="23" name="TextBox23"/>
          <p:cNvSpPr txBox="1"/>
          <p:nvPr/>
        </p:nvSpPr>
        <p:spPr>
          <a:xfrm>
            <a:off x="4680000" y="4751997"/>
            <a:ext cx="6840000" cy="7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s-CO" dirty="0">
                <a:solidFill>
                  <a:srgbClr val="404040"/>
                </a:solidFill>
                <a:sz val="1300"/>
              </a:rPr>
              <a:t>Simulacro total con todos los actores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ine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1B3A5C"/>
          </a:solidFill>
          <a:ln w="0">
            <a:noFill/>
          </a:ln>
        </p:spPr>
      </p:sp>
      <p:sp>
        <p:nvSpPr>
          <p:cNvPr id="3" name="Line3"/>
          <p:cNvSpPr/>
          <p:nvPr/>
        </p:nvSpPr>
        <p:spPr>
          <a:xfrm>
            <a:off x="0" y="6570000"/>
            <a:ext cx="12192000" cy="-628200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</p:sp>
      <p:sp>
        <p:nvSpPr>
          <p:cNvPr id="4" name="TextBox4"/>
          <p:cNvSpPr txBox="1"/>
          <p:nvPr/>
        </p:nvSpPr>
        <p:spPr>
          <a:xfrm>
            <a:off x="360000" y="1080000"/>
            <a:ext cx="11520000" cy="108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1B3A5C"/>
                </a:solidFill>
                <a:sz val="3200"/>
              </a:rPr>
              <a:t>RECUERDE</a:t>
            </a:r>
          </a:p>
        </p:txBody>
      </p:sp>
      <p:sp>
        <p:nvSpPr>
          <p:cNvPr id="5" name="TextBox5"/>
          <p:cNvSpPr txBox="1"/>
          <p:nvPr/>
        </p:nvSpPr>
        <p:spPr>
          <a:xfrm>
            <a:off x="1080000" y="2160000"/>
            <a:ext cx="10080000" cy="288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O" b="1" dirty="0">
                <a:solidFill>
                  <a:srgbClr val="2E75B6"/>
                </a:solidFill>
                <a:sz val="2000"/>
              </a:rPr>
              <a:t>"La seguridad es responsabilidad de TODOS"</a:t>
            </a:r>
          </a:p>
          <a:p>
            <a:pPr algn="ctr"/>
            <a:r>
              <a:rPr lang="es-CO" dirty="0">
                <a:solidFill>
                  <a:srgbClr val="404040"/>
                </a:solidFill>
                <a:sz val="1400"/>
              </a:rPr>
              <a:t/>
            </a:r>
          </a:p>
          <a:p>
            <a:pPr algn="ctr"/>
            <a:r>
              <a:rPr lang="es-CO" b="1" dirty="0">
                <a:solidFill>
                  <a:srgbClr val="C00000"/>
                </a:solidFill>
                <a:sz val="1600"/>
              </a:rPr>
              <a:t>Linea 123 - Numero Unico de Emergencias</a:t>
            </a:r>
          </a:p>
          <a:p>
            <a:pPr algn="ctr"/>
            <a:r>
              <a:rPr lang="es-CO" dirty="0">
                <a:solidFill>
                  <a:srgbClr val="404040"/>
                </a:solidFill>
                <a:sz val="1400"/>
              </a:rPr>
              <a:t>Protocolo RAPCE: Reconocer - Alertar - Proteger - Contener - Esperar</a:t>
            </a:r>
          </a:p>
          <a:p>
            <a:pPr algn="ctr"/>
            <a:r>
              <a:rPr lang="es-CO" dirty="0">
                <a:solidFill>
                  <a:srgbClr val="404040"/>
                </a:solidFill>
                <a:sz val="1400"/>
              </a:rPr>
              <a:t/>
            </a:r>
          </a:p>
          <a:p>
            <a:pPr algn="ctr"/>
            <a:r>
              <a:rPr lang="es-CO" b="1" dirty="0">
                <a:solidFill>
                  <a:srgbClr val="ED7D31"/>
                </a:solidFill>
                <a:sz val="1600"/>
              </a:rPr>
              <a:t>Espere movimiento en cualquier via,</a:t>
            </a:r>
          </a:p>
          <a:p>
            <a:pPr algn="ctr"/>
            <a:r>
              <a:rPr lang="es-CO" b="1" dirty="0">
                <a:solidFill>
                  <a:srgbClr val="ED7D31"/>
                </a:solidFill>
                <a:sz val="1600"/>
              </a:rPr>
              <a:t>en cualquier direccion, en cualquier momento</a:t>
            </a:r>
          </a:p>
          <a:p>
            <a:pPr algn="ctr"/>
            <a:r>
              <a:rPr lang="es-CO" dirty="0">
                <a:solidFill>
                  <a:srgbClr val="404040"/>
                </a:solidFill>
                <a:sz val="1400"/>
              </a:rPr>
              <a:t/>
            </a:r>
          </a:p>
          <a:p>
            <a:pPr algn="ctr"/>
            <a:r>
              <a:rPr lang="es-CO" b="1" dirty="0">
                <a:solidFill>
                  <a:srgbClr val="1B3A5C"/>
                </a:solidFill>
                <a:sz val="1800"/>
              </a:rPr>
              <a:t>Gracias por su participacion!</a:t>
            </a:r>
          </a:p>
          <a:p>
            <a:pPr algn="ctr"/>
            <a:r>
              <a:rPr lang="es-CO" dirty="0">
                <a:solidFill>
                  <a:srgbClr val="404040"/>
                </a:solidFill>
                <a:sz val="1400"/>
              </a:rPr>
              <a:t>Colombia 2026</a:t>
            </a:r>
          </a:p>
        </p:txBody>
      </p:sp>
    </p:spTree>
  </p:cSld>
</p:sld>
</file>

<file path=ppt/theme/theme1.xml><?xml version="1.0" encoding="utf-8"?>
<a:theme xmlns:a="http://schemas.openxmlformats.org/drawingml/2006/main" name="Tema Ferroviario">
  <a:themeElements>
    <a:clrScheme name="Ferroviario">
      <a:dk1>
        <a:srgbClr val="1B3A5C"/>
      </a:dk1>
      <a:lt1>
        <a:srgbClr val="FFFFFF"/>
      </a:lt1>
      <a:dk2>
        <a:srgbClr val="404040"/>
      </a:dk2>
      <a:lt2>
        <a:srgbClr val="F2F2F2"/>
      </a:lt2>
      <a:accent1>
        <a:srgbClr val="2E75B6"/>
      </a:accent1>
      <a:accent2>
        <a:srgbClr val="ED7D31"/>
      </a:accent2>
      <a:accent3>
        <a:srgbClr val="70AD47"/>
      </a:accent3>
      <a:accent4>
        <a:srgbClr val="FFC000"/>
      </a:accent4>
      <a:accent5>
        <a:srgbClr val="5B9BD5"/>
      </a:accent5>
      <a:accent6>
        <a:srgbClr val="C00000"/>
      </a:accent6>
      <a:hlink>
        <a:srgbClr val="0563C1"/>
      </a:hlink>
      <a:folHlink>
        <a:srgbClr val="954F72"/>
      </a:folHlink>
    </a:clrScheme>
    <a:fontScheme name="Ferroviario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